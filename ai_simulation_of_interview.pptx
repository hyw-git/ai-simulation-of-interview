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79" r:id="rId3"/>
    <p:sldId id="257" r:id="rId4"/>
    <p:sldId id="258" r:id="rId5"/>
    <p:sldId id="259" r:id="rId6"/>
    <p:sldId id="260" r:id="rId7"/>
    <p:sldId id="261" r:id="rId8"/>
    <p:sldId id="262" r:id="rId9"/>
    <p:sldId id="280" r:id="rId10"/>
    <p:sldId id="264" r:id="rId12"/>
    <p:sldId id="265" r:id="rId13"/>
    <p:sldId id="277" r:id="rId14"/>
    <p:sldId id="267" r:id="rId15"/>
    <p:sldId id="278" r:id="rId16"/>
    <p:sldId id="270" r:id="rId17"/>
    <p:sldId id="271" r:id="rId18"/>
    <p:sldId id="273" r:id="rId19"/>
    <p:sldId id="272" r:id="rId20"/>
    <p:sldId id="274" r:id="rId21"/>
    <p:sldId id="256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-571500"/>
            <a:ext cx="12573000" cy="7429500"/>
            <a:chOff x="0" y="-571500"/>
            <a:chExt cx="12573000" cy="7429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E52">
                <a:alpha val="2000"/>
              </a:srgb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2E6ED">
                  <a:alpha val="6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2E6ED">
                  <a:alpha val="6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0" y="-571500"/>
              <a:ext cx="3429000" cy="3429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0" y="4572000"/>
              <a:ext cx="2286000" cy="2286000"/>
            </a:xfrm>
            <a:prstGeom prst="ellipse">
              <a:avLst/>
            </a:prstGeom>
            <a:solidFill>
              <a:srgbClr val="FFB300">
                <a:alpha val="7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" y="5334000"/>
              <a:ext cx="1524000" cy="152400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F2E5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0" y="95250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0" y="1009650"/>
              <a:ext cx="12192000" cy="19050"/>
            </a:xfrm>
            <a:prstGeom prst="rect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90550" y="304800"/>
              <a:ext cx="342900" cy="3429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66750" y="381000"/>
              <a:ext cx="190500" cy="190500"/>
            </a:xfrm>
            <a:prstGeom prst="ellipse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8700" y="371475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AI · Simulation Interview</a:t>
              </a:r>
              <a:endParaRPr lang="zh-CN" sz="1500" b="1" dirty="0">
                <a:solidFill>
                  <a:srgbClr val="FFFFFF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8230" y="2247265"/>
            <a:ext cx="5721539" cy="1843405"/>
            <a:chOff x="1078230" y="1811655"/>
            <a:chExt cx="5721539" cy="1843405"/>
          </a:xfrm>
        </p:grpSpPr>
        <p:sp>
          <p:nvSpPr>
            <p:cNvPr id="18" name="TextBox 18"/>
            <p:cNvSpPr txBox="1"/>
            <p:nvPr/>
          </p:nvSpPr>
          <p:spPr>
            <a:xfrm>
              <a:off x="1078230" y="1811655"/>
              <a:ext cx="5721539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AI 模拟面试平台</a:t>
              </a:r>
              <a:endParaRPr lang="zh-CN" sz="51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2520" y="2636520"/>
              <a:ext cx="122428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565C0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进展汇报</a:t>
              </a:r>
              <a:endParaRPr lang="zh-CN" sz="2400" b="1" dirty="0">
                <a:solidFill>
                  <a:srgbClr val="1565C0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3124200"/>
              <a:ext cx="1524000" cy="5715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05100" y="3143250"/>
              <a:ext cx="381000" cy="190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760" y="3470910"/>
              <a:ext cx="26111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 + Vue 3 + pgvector · </a:t>
              </a:r>
              <a:r>
                <a:rPr lang="zh-CN" sz="12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课程项目</a:t>
              </a:r>
              <a:endParaRPr lang="zh-CN" sz="120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3000" y="5227320"/>
            <a:ext cx="9306560" cy="571500"/>
            <a:chOff x="1143000" y="5600700"/>
            <a:chExt cx="9306560" cy="571500"/>
          </a:xfrm>
        </p:grpSpPr>
        <p:sp>
          <p:nvSpPr>
            <p:cNvPr id="43" name="Rectangle 43"/>
            <p:cNvSpPr/>
            <p:nvPr/>
          </p:nvSpPr>
          <p:spPr>
            <a:xfrm>
              <a:off x="11430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001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01115" y="5925502"/>
              <a:ext cx="10668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专业方向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综合项目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671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团队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68115" y="5925502"/>
              <a:ext cx="122936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面试平台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课程小组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246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日期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25615" y="5925502"/>
              <a:ext cx="68326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2026-0</a:t>
              </a:r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-1</a:t>
              </a:r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</a:t>
              </a:r>
              <a:endParaRPr lang="en-US" alt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345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91662" y="5688806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汇报人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92615" y="5925502"/>
              <a:ext cx="95694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2353117 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黄彦炜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7895" b="78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62000" y="495300"/>
            <a:ext cx="1384300" cy="381000"/>
            <a:chOff x="762000" y="495300"/>
            <a:chExt cx="1384300" cy="381000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922020" y="502920"/>
              <a:ext cx="122428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汇报</a:t>
              </a:r>
              <a:r>
                <a:rPr lang="zh-CN" altLang="en-US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目录</a:t>
              </a:r>
              <a:endParaRPr lang="zh-CN" altLang="en-US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1479550"/>
            <a:ext cx="5461636" cy="4930775"/>
            <a:chOff x="762000" y="1905000"/>
            <a:chExt cx="2869511" cy="4275813"/>
          </a:xfrm>
        </p:grpSpPr>
        <p:sp>
          <p:nvSpPr>
            <p:cNvPr id="14" name="Rectangle 14"/>
            <p:cNvSpPr/>
            <p:nvPr/>
          </p:nvSpPr>
          <p:spPr>
            <a:xfrm>
              <a:off x="762000" y="1905000"/>
              <a:ext cx="2869177" cy="4275813"/>
            </a:xfrm>
            <a:prstGeom prst="roundRect">
              <a:avLst>
                <a:gd name="adj" fmla="val 325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905000"/>
              <a:ext cx="2869511" cy="66078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971550" y="2124075"/>
              <a:ext cx="1815251" cy="396729"/>
              <a:chOff x="971550" y="2124075"/>
              <a:chExt cx="1815251" cy="396729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971550" y="2152650"/>
                <a:ext cx="342900" cy="342900"/>
              </a:xfrm>
              <a:prstGeom prst="ellipse">
                <a:avLst/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047750" y="2228850"/>
                <a:ext cx="190500" cy="190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9700" y="2124075"/>
                <a:ext cx="958215" cy="199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汇报结构</a:t>
                </a:r>
                <a:endPara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16368" y="2390299"/>
                <a:ext cx="1370433" cy="1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Agenda · 5 sections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2" name="Line 22"/>
            <p:cNvSpPr/>
            <p:nvPr/>
          </p:nvSpPr>
          <p:spPr>
            <a:xfrm flipV="1">
              <a:off x="1047917" y="2718864"/>
              <a:ext cx="2306351" cy="66078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6ED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1047750" y="2933700"/>
              <a:ext cx="2080999" cy="3234895"/>
              <a:chOff x="1047750" y="2933700"/>
              <a:chExt cx="2080999" cy="3234895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1047750" y="2933700"/>
                <a:ext cx="2080999" cy="377679"/>
                <a:chOff x="1047750" y="2933700"/>
                <a:chExt cx="2080999" cy="377679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1047750" y="2933700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118381" y="3029902"/>
                  <a:ext cx="163537" cy="1398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01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470660" y="2956560"/>
                  <a:ext cx="1318641" cy="1596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项目目标与价值</a:t>
                  </a:r>
                  <a:endPara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473518" y="3180874"/>
                  <a:ext cx="1655231" cy="1305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Goals · Value · Audience</a:t>
                  </a:r>
                  <a:endPara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047750" y="3638576"/>
                <a:ext cx="1568363" cy="360058"/>
                <a:chOff x="1047750" y="3638576"/>
                <a:chExt cx="1568363" cy="360058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1047750" y="3638576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098254" y="3725968"/>
                  <a:ext cx="203792" cy="1398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02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470660" y="3642712"/>
                  <a:ext cx="1134618" cy="1596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核心功能模块</a:t>
                  </a:r>
                  <a:endPara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473518" y="3868129"/>
                  <a:ext cx="1142595" cy="1305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6 大功能矩阵概览</a:t>
                  </a:r>
                  <a:endPara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1048720" y="4368514"/>
                <a:ext cx="1743492" cy="362528"/>
                <a:chOff x="1048720" y="4368514"/>
                <a:chExt cx="1743492" cy="362528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1048720" y="4368781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098254" y="4432495"/>
                  <a:ext cx="203792" cy="1398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03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473571" y="4368514"/>
                  <a:ext cx="1318641" cy="1596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技术架构与流程</a:t>
                  </a:r>
                  <a:endPara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466078" y="4600537"/>
                  <a:ext cx="1320594" cy="1305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分层架构 · RAG 链路</a:t>
                  </a:r>
                  <a:endPara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1048396" y="5087424"/>
                <a:ext cx="1916594" cy="376577"/>
                <a:chOff x="1048396" y="5087424"/>
                <a:chExt cx="1916594" cy="376577"/>
              </a:xfrm>
            </p:grpSpPr>
            <p:sp>
              <p:nvSpPr>
                <p:cNvPr id="41" name="Rectangle 41"/>
                <p:cNvSpPr/>
                <p:nvPr/>
              </p:nvSpPr>
              <p:spPr>
                <a:xfrm>
                  <a:off x="1048396" y="5087424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98254" y="5163251"/>
                  <a:ext cx="203792" cy="1398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ctr">
                    <a:defRPr>
                      <a:solidFill/>
                    </a:defRPr>
                  </a:pPr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04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473434" y="5094582"/>
                  <a:ext cx="1349188" cy="1596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>
                    <a:defRPr>
                      <a:solidFill/>
                    </a:defRPr>
                  </a:pPr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AI编程使用心得</a:t>
                  </a:r>
                  <a:endPara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473518" y="5333496"/>
                  <a:ext cx="1491472" cy="1305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>
                    <a:defRPr>
                      <a:solidFill/>
                    </a:defRPr>
                  </a:pPr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Cursor 辅助 · 提效与踩坑</a:t>
                  </a:r>
                  <a:endPara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7" name="Group 46"/>
              <p:cNvGrpSpPr/>
              <p:nvPr/>
            </p:nvGrpSpPr>
            <p:grpSpPr>
              <a:xfrm>
                <a:off x="1048396" y="5791597"/>
                <a:ext cx="1916594" cy="376998"/>
                <a:chOff x="1048396" y="5072687"/>
                <a:chExt cx="1916594" cy="376998"/>
              </a:xfrm>
            </p:grpSpPr>
            <p:sp>
              <p:nvSpPr>
                <p:cNvPr id="8" name="Rectangle 41"/>
                <p:cNvSpPr/>
                <p:nvPr/>
              </p:nvSpPr>
              <p:spPr>
                <a:xfrm>
                  <a:off x="1048396" y="5087424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9" name="TextBox 42"/>
                <p:cNvSpPr txBox="1"/>
                <p:nvPr/>
              </p:nvSpPr>
              <p:spPr>
                <a:xfrm>
                  <a:off x="1098254" y="5188030"/>
                  <a:ext cx="203792" cy="1398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ctr">
                    <a:buClrTx/>
                    <a:buSzTx/>
                    <a:buFontTx/>
                    <a:defRPr>
                      <a:solidFill/>
                    </a:defRPr>
                  </a:pPr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05</a:t>
                  </a:r>
                  <a:endPara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10" name="TextBox 43"/>
                <p:cNvSpPr txBox="1"/>
                <p:nvPr/>
              </p:nvSpPr>
              <p:spPr>
                <a:xfrm>
                  <a:off x="1473571" y="5072687"/>
                  <a:ext cx="609600" cy="15968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项目演示</a:t>
                  </a:r>
                  <a:endPara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11" name="TextBox 44"/>
                <p:cNvSpPr txBox="1"/>
                <p:nvPr/>
              </p:nvSpPr>
              <p:spPr>
                <a:xfrm>
                  <a:off x="1473518" y="5319180"/>
                  <a:ext cx="1491472" cy="1305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MVP 完成度 + 演示步骤</a:t>
                  </a:r>
                  <a:endPara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</p:grpSp>
      </p:grp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925945" y="2038985"/>
            <a:ext cx="4862195" cy="3816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2560320"/>
            <a:ext cx="12191999" cy="18288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8" y="2560320"/>
            <a:ext cx="137160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838" y="292608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PART 0</a:t>
            </a:r>
            <a:r>
              <a:rPr lang="en-US"/>
              <a:t>1</a:t>
            </a:r>
            <a:r>
              <a:t> · </a:t>
            </a:r>
            <a:r>
              <a:rPr lang="zh-CN"/>
              <a:t>项目目标与价值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7895" b="78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  <p:txBody>
          <a:bodyPr/>
          <a:p>
            <a:r>
              <a:rPr lang="en-US" altLang="zh-CN">
                <a:solidFill>
                  <a:schemeClr val="bg1"/>
                </a:solidFill>
                <a:sym typeface="+mn-ea"/>
              </a:rPr>
              <a:t>01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762000" y="495300"/>
            <a:ext cx="2302510" cy="381000"/>
            <a:chOff x="762000" y="495300"/>
            <a:chExt cx="2302510" cy="381000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" name="TextBox 6"/>
            <p:cNvSpPr txBox="1"/>
            <p:nvPr/>
          </p:nvSpPr>
          <p:spPr>
            <a:xfrm>
              <a:off x="922020" y="502920"/>
              <a:ext cx="214249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项目价值与目标</a:t>
              </a:r>
              <a:endParaRPr lang="zh-CN" altLang="en-US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1905000"/>
            <a:ext cx="5334000" cy="4095750"/>
            <a:chOff x="762000" y="1905000"/>
            <a:chExt cx="5334000" cy="4095750"/>
          </a:xfrm>
        </p:grpSpPr>
        <p:sp>
          <p:nvSpPr>
            <p:cNvPr id="14" name="Rectangle 14"/>
            <p:cNvSpPr/>
            <p:nvPr/>
          </p:nvSpPr>
          <p:spPr>
            <a:xfrm>
              <a:off x="762000" y="1905000"/>
              <a:ext cx="5334000" cy="4095750"/>
            </a:xfrm>
            <a:prstGeom prst="roundRect">
              <a:avLst>
                <a:gd name="adj" fmla="val 325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Rectangle 15"/>
            <p:cNvSpPr/>
            <p:nvPr/>
          </p:nvSpPr>
          <p:spPr>
            <a:xfrm>
              <a:off x="762000" y="1905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Rectangle 16"/>
            <p:cNvSpPr/>
            <p:nvPr/>
          </p:nvSpPr>
          <p:spPr>
            <a:xfrm>
              <a:off x="762000" y="1905000"/>
              <a:ext cx="5334000" cy="4095750"/>
            </a:xfrm>
            <a:prstGeom prst="roundRect">
              <a:avLst>
                <a:gd name="adj" fmla="val 3256"/>
              </a:avLst>
            </a:prstGeom>
            <a:noFill/>
            <a:ln w="9525">
              <a:solidFill>
                <a:srgbClr val="E2E6ED"/>
              </a:solidFill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971550" y="2152650"/>
              <a:ext cx="1200150" cy="342900"/>
              <a:chOff x="971550" y="2152650"/>
              <a:chExt cx="1200150" cy="3429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971550" y="2152650"/>
                <a:ext cx="342900" cy="342900"/>
              </a:xfrm>
              <a:prstGeom prst="ellipse">
                <a:avLst/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047750" y="2228850"/>
                <a:ext cx="190500" cy="190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9700" y="2215701"/>
                <a:ext cx="76200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项目目标</a:t>
                </a:r>
                <a:endPara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1047750" y="2762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6ED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1047750" y="2762385"/>
              <a:ext cx="4838065" cy="1755406"/>
              <a:chOff x="1047750" y="2762385"/>
              <a:chExt cx="4838065" cy="1755406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047750" y="2762385"/>
                <a:ext cx="4838065" cy="815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indent="0" algn="l" fontAlgn="auto">
                  <a:lnSpc>
                    <a:spcPct val="200000"/>
                  </a:lnSpc>
                </a:pP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本项目是一个基于</a:t>
                </a:r>
                <a:r>
                  <a:rPr lang="en-US" alt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Agent </a:t>
                </a: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架构的闭环面试实战平台。利用</a:t>
                </a:r>
                <a:r>
                  <a:rPr lang="en-US" alt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RAG (</a:t>
                </a: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检索增</a:t>
                </a:r>
                <a:endParaRPr lang="zh-CN" altLang="en-US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indent="0" algn="l" fontAlgn="auto">
                  <a:lnSpc>
                    <a:spcPct val="200000"/>
                  </a:lnSpc>
                </a:pP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强生成</a:t>
                </a:r>
                <a:r>
                  <a:rPr lang="en-US" alt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) </a:t>
                </a: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技术确保技术问题的专业深度，通过异步任务流处理多模态评</a:t>
                </a:r>
                <a:endParaRPr lang="zh-CN" altLang="en-US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indent="0" algn="l" fontAlgn="auto">
                  <a:lnSpc>
                    <a:spcPct val="200000"/>
                  </a:lnSpc>
                </a:pP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估，为计算机专业学生提供准企业级的</a:t>
                </a:r>
                <a:r>
                  <a: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模拟面试训练环境。</a:t>
                </a:r>
                <a:endParaRPr lang="zh-CN" altLang="en-US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1075055" y="3728639"/>
                <a:ext cx="304800" cy="719536"/>
                <a:chOff x="1075055" y="3728639"/>
                <a:chExt cx="304800" cy="719536"/>
              </a:xfrm>
            </p:grpSpPr>
            <p:sp>
              <p:nvSpPr>
                <p:cNvPr id="41" name="Rectangle 41"/>
                <p:cNvSpPr/>
                <p:nvPr/>
              </p:nvSpPr>
              <p:spPr>
                <a:xfrm>
                  <a:off x="1075055" y="4143375"/>
                  <a:ext cx="304800" cy="3048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>
                  <a:endParaRPr lang="en-US" sz="1000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178965" y="3728639"/>
                  <a:ext cx="148590" cy="1612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defRPr>
                      <a:solidFill/>
                    </a:defRPr>
                  </a:pPr>
                  <a:r>
                    <a:rPr 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0</a:t>
                  </a:r>
                  <a:r>
                    <a:rPr lang="en-US" altLang="zh-CN" sz="1050" b="1" dirty="0">
                      <a:solidFill>
                        <a:srgbClr val="FFFFFF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1</a:t>
                  </a:r>
                  <a:endParaRPr lang="en-US" alt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1470660" y="4143390"/>
                <a:ext cx="1490345" cy="374401"/>
                <a:chOff x="1470660" y="3629040"/>
                <a:chExt cx="1490345" cy="374401"/>
              </a:xfrm>
            </p:grpSpPr>
            <p:sp>
              <p:nvSpPr>
                <p:cNvPr id="49" name="TextBox 49"/>
                <p:cNvSpPr txBox="1"/>
                <p:nvPr/>
              </p:nvSpPr>
              <p:spPr>
                <a:xfrm>
                  <a:off x="1470660" y="3629040"/>
                  <a:ext cx="1490345" cy="184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深度</a:t>
                  </a:r>
                  <a:r>
                    <a:rPr lang="en-US" altLang="zh-CN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 RAG </a:t>
                  </a:r>
                  <a:r>
                    <a:rPr lang="zh-CN" altLang="en-US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岗位</a:t>
                  </a:r>
                  <a:r>
                    <a:rPr lang="zh-CN" altLang="en-US" sz="1200" b="1" dirty="0">
                      <a:solidFill>
                        <a:srgbClr val="1E1E1E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知识库</a:t>
                  </a:r>
                  <a:endParaRPr lang="zh-CN" altLang="en-US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476338" y="3854102"/>
                  <a:ext cx="1229995" cy="1493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企业级实现</a:t>
                  </a:r>
                  <a:r>
                    <a:rPr lang="en-US" altLang="zh-CN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 · </a:t>
                  </a:r>
                  <a:r>
                    <a:rPr lang="zh-CN" altLang="en-US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动态</a:t>
                  </a:r>
                  <a:r>
                    <a:rPr lang="zh-CN" altLang="en-US" sz="975" dirty="0">
                      <a:solidFill>
                        <a:srgbClr val="5F6B7A"/>
                      </a:solidFill>
                      <a:latin typeface="Arial" panose="020B0604020202020204"/>
                      <a:ea typeface="微软雅黑" panose="020B0503020204020204" charset="-122"/>
                      <a:cs typeface="Arial" panose="020B0604020202020204"/>
                    </a:rPr>
                    <a:t>检索</a:t>
                  </a:r>
                  <a:endParaRPr lang="zh-CN" altLang="en-US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p:grpSp>
        </p:grpSp>
      </p:grpSp>
      <p:grpSp>
        <p:nvGrpSpPr>
          <p:cNvPr id="82" name="Group 82"/>
          <p:cNvGrpSpPr/>
          <p:nvPr/>
        </p:nvGrpSpPr>
        <p:grpSpPr>
          <a:xfrm>
            <a:off x="6286500" y="1905000"/>
            <a:ext cx="5143500" cy="4095750"/>
            <a:chOff x="6286500" y="1905000"/>
            <a:chExt cx="5143500" cy="4095750"/>
          </a:xfrm>
        </p:grpSpPr>
        <p:sp>
          <p:nvSpPr>
            <p:cNvPr id="57" name="Rectangle 57"/>
            <p:cNvSpPr/>
            <p:nvPr/>
          </p:nvSpPr>
          <p:spPr>
            <a:xfrm>
              <a:off x="6286500" y="1905000"/>
              <a:ext cx="5143500" cy="4095750"/>
            </a:xfrm>
            <a:prstGeom prst="roundRect">
              <a:avLst>
                <a:gd name="adj" fmla="val 3256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6286500" y="1905000"/>
              <a:ext cx="5143500" cy="381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Rectangle 59"/>
            <p:cNvSpPr/>
            <p:nvPr/>
          </p:nvSpPr>
          <p:spPr>
            <a:xfrm>
              <a:off x="6286500" y="1905000"/>
              <a:ext cx="5143500" cy="4095750"/>
            </a:xfrm>
            <a:prstGeom prst="roundRect">
              <a:avLst>
                <a:gd name="adj" fmla="val 3256"/>
              </a:avLst>
            </a:prstGeom>
            <a:noFill/>
            <a:ln w="9525">
              <a:solidFill>
                <a:srgbClr val="E2E6ED"/>
              </a:solidFill>
            </a:ln>
          </p:spPr>
          <p:txBody>
            <a:bodyPr/>
            <a:p/>
          </p:txBody>
        </p:sp>
        <p:grpSp>
          <p:nvGrpSpPr>
            <p:cNvPr id="64" name="Group 64"/>
            <p:cNvGrpSpPr/>
            <p:nvPr/>
          </p:nvGrpSpPr>
          <p:grpSpPr>
            <a:xfrm>
              <a:off x="6496050" y="2152650"/>
              <a:ext cx="1396365" cy="358393"/>
              <a:chOff x="6496050" y="2152650"/>
              <a:chExt cx="1396365" cy="358393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6496050" y="2152650"/>
                <a:ext cx="342900" cy="342900"/>
              </a:xfrm>
              <a:prstGeom prst="ellipse">
                <a:avLst/>
              </a:prstGeom>
              <a:solidFill>
                <a:srgbClr val="FFB300">
                  <a:alpha val="16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572250" y="2228850"/>
                <a:ext cx="190500" cy="190500"/>
              </a:xfrm>
              <a:prstGeom prst="ellipse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934200" y="2206243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价值主张</a:t>
                </a:r>
                <a:endPara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5" name="Line 65"/>
            <p:cNvSpPr/>
            <p:nvPr/>
          </p:nvSpPr>
          <p:spPr>
            <a:xfrm>
              <a:off x="6572250" y="2762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6ED"/>
              </a:solidFill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6572250" y="2952750"/>
              <a:ext cx="3784212" cy="552450"/>
              <a:chOff x="6572250" y="2952750"/>
              <a:chExt cx="3784212" cy="5524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572250" y="2952750"/>
                <a:ext cx="5715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747510" y="3032760"/>
                <a:ext cx="11622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1) 轻量可演示</a:t>
                </a:r>
                <a:endParaRPr lang="zh-CN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750368" y="3285649"/>
                <a:ext cx="36060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教学场景友好：一行命令即可启动完整后端 + 演示界面。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6572250" y="3676650"/>
              <a:ext cx="3392615" cy="552450"/>
              <a:chOff x="6572250" y="3676650"/>
              <a:chExt cx="3392615" cy="5524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6572250" y="3676650"/>
                <a:ext cx="5715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747510" y="3756660"/>
                <a:ext cx="13830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2) RAG 真实体验</a:t>
                </a:r>
                <a:endParaRPr lang="zh-CN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6750368" y="4009549"/>
                <a:ext cx="32144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向量检索 + 问答生成闭环演示，呈现 RAG 全链路。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6572250" y="4400550"/>
              <a:ext cx="3193257" cy="552450"/>
              <a:chOff x="6572250" y="4400550"/>
              <a:chExt cx="3193257" cy="5524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6572250" y="4400550"/>
                <a:ext cx="57150" cy="5524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747510" y="4480560"/>
                <a:ext cx="12082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3) 可扩展底座</a:t>
                </a:r>
                <a:endParaRPr lang="zh-CN" sz="12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750368" y="473344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模块化设计便于接入真实模型、多租户与权限。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572250" y="5191125"/>
              <a:ext cx="4572000" cy="647700"/>
              <a:chOff x="6572250" y="5191125"/>
              <a:chExt cx="4572000" cy="6477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6572250" y="5191125"/>
                <a:ext cx="45720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750368" y="53049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关键指标速览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741795" y="5536882"/>
                <a:ext cx="1276350" cy="253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 </a:t>
                </a:r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大模块</a:t>
                </a:r>
                <a:r>
                  <a:rPr lang="zh-CN" sz="16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</a:t>
                </a:r>
                <a:r>
                  <a:rPr lang="zh-CN" sz="16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· 6 </a:t>
                </a:r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功能</a:t>
                </a:r>
                <a:r>
                  <a:rPr lang="zh-CN" sz="16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1057910" y="4163695"/>
            <a:ext cx="36195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chemeClr val="bg1"/>
                </a:solidFill>
              </a:rPr>
              <a:t>01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7" name="Rectangle 41"/>
          <p:cNvSpPr/>
          <p:nvPr/>
        </p:nvSpPr>
        <p:spPr>
          <a:xfrm>
            <a:off x="1075055" y="473329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  <p:txBody>
          <a:bodyPr/>
          <a:p>
            <a:endParaRPr lang="en-US" sz="1000"/>
          </a:p>
        </p:txBody>
      </p:sp>
      <p:sp>
        <p:nvSpPr>
          <p:cNvPr id="33" name="Rectangle 41"/>
          <p:cNvSpPr/>
          <p:nvPr/>
        </p:nvSpPr>
        <p:spPr>
          <a:xfrm>
            <a:off x="1075055" y="532320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>
            <a:noFill/>
          </a:ln>
        </p:spPr>
        <p:txBody>
          <a:bodyPr/>
          <a:p>
            <a:endParaRPr lang="en-US" sz="1000"/>
          </a:p>
        </p:txBody>
      </p:sp>
      <p:sp>
        <p:nvSpPr>
          <p:cNvPr id="39" name="TextBox 49"/>
          <p:cNvSpPr txBox="1"/>
          <p:nvPr/>
        </p:nvSpPr>
        <p:spPr>
          <a:xfrm>
            <a:off x="1470660" y="4724415"/>
            <a:ext cx="18459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altLang="zh-CN" sz="12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Agent </a:t>
            </a:r>
            <a:r>
              <a:rPr lang="zh-CN" altLang="en-US" sz="12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驱动的动态追问</a:t>
            </a:r>
            <a:r>
              <a:rPr lang="zh-CN" altLang="en-US" sz="12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模块</a:t>
            </a:r>
            <a:endParaRPr lang="zh-CN" altLang="en-US" sz="1200" b="1" dirty="0">
              <a:solidFill>
                <a:srgbClr val="1E1E1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9"/>
          <p:cNvSpPr txBox="1"/>
          <p:nvPr/>
        </p:nvSpPr>
        <p:spPr>
          <a:xfrm>
            <a:off x="1477010" y="5323220"/>
            <a:ext cx="13716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多模态异步</a:t>
            </a:r>
            <a:r>
              <a:rPr lang="zh-CN" sz="12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评估系统</a:t>
            </a:r>
            <a:endParaRPr lang="zh-CN" sz="1200" b="1" dirty="0">
              <a:solidFill>
                <a:srgbClr val="1E1E1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76693" y="4953155"/>
            <a:ext cx="1105535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逻辑递增 · </a:t>
            </a:r>
            <a:r>
              <a: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流式交互</a:t>
            </a:r>
            <a:endParaRPr lang="zh-CN" sz="975" dirty="0">
              <a:solidFill>
                <a:srgbClr val="5F6B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0"/>
          <p:cNvSpPr txBox="1"/>
          <p:nvPr/>
        </p:nvSpPr>
        <p:spPr>
          <a:xfrm>
            <a:off x="1477010" y="5536565"/>
            <a:ext cx="1113155" cy="1504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异步流</a:t>
            </a:r>
            <a:r>
              <a:rPr lang="en-US" alt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· </a:t>
            </a:r>
            <a:r>
              <a: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维度拆解</a:t>
            </a:r>
            <a:endParaRPr lang="zh-CN" sz="975" dirty="0">
              <a:solidFill>
                <a:srgbClr val="5F6B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47750" y="4733290"/>
            <a:ext cx="361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02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047750" y="5323205"/>
            <a:ext cx="408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03</a:t>
            </a:r>
            <a:endParaRPr lang="en-US" altLang="zh-CN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2560320"/>
            <a:ext cx="12191999" cy="18288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8" y="2560320"/>
            <a:ext cx="137160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838" y="292608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PART 0</a:t>
            </a:r>
            <a:r>
              <a:rPr lang="en-US"/>
              <a:t>2</a:t>
            </a:r>
            <a:r>
              <a:t> · </a:t>
            </a:r>
            <a:r>
              <a:rPr lang="zh-CN"/>
              <a:t>核心功能</a:t>
            </a:r>
            <a:r>
              <a:rPr lang="zh-CN"/>
              <a:t>模块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5592" b="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>
              <a:alpha val="9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533400"/>
            <a:ext cx="11125200" cy="5791200"/>
            <a:chOff x="533400" y="533400"/>
            <a:chExt cx="11125200" cy="5791200"/>
          </a:xfrm>
        </p:grpSpPr>
        <p:sp>
          <p:nvSpPr>
            <p:cNvPr id="4" name="Ellipse 4"/>
            <p:cNvSpPr/>
            <p:nvPr/>
          </p:nvSpPr>
          <p:spPr>
            <a:xfrm>
              <a:off x="533400" y="533400"/>
              <a:ext cx="76200" cy="76200"/>
            </a:xfrm>
            <a:prstGeom prst="ellipse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14400" y="533400"/>
              <a:ext cx="76200" cy="76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95400" y="533400"/>
              <a:ext cx="76200" cy="76200"/>
            </a:xfrm>
            <a:prstGeom prst="ellipse">
              <a:avLst/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582400" y="6248400"/>
              <a:ext cx="76200" cy="76200"/>
            </a:xfrm>
            <a:prstGeom prst="ellipse">
              <a:avLst/>
            </a:prstGeom>
            <a:solidFill>
              <a:srgbClr val="FFB300">
                <a:alpha val="3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01400" y="6248400"/>
              <a:ext cx="76200" cy="76200"/>
            </a:xfrm>
            <a:prstGeom prst="ellipse">
              <a:avLst/>
            </a:prstGeom>
            <a:solidFill>
              <a:srgbClr val="FFB300">
                <a:alpha val="2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820400" y="6248400"/>
              <a:ext cx="76200" cy="76200"/>
            </a:xfrm>
            <a:prstGeom prst="ellipse">
              <a:avLst/>
            </a:prstGeom>
            <a:solidFill>
              <a:srgbClr val="FFB300">
                <a:alpha val="12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2000" y="718185"/>
            <a:ext cx="2429256" cy="614362"/>
            <a:chOff x="762000" y="495300"/>
            <a:chExt cx="2429256" cy="614362"/>
          </a:xfrm>
        </p:grpSpPr>
        <p:sp>
          <p:nvSpPr>
            <p:cNvPr id="11" name="Rectangle 11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020" y="50292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核心功能模块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896302"/>
              <a:ext cx="1974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Core Features · 6 modules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762000" y="1809750"/>
            <a:ext cx="10668000" cy="4381500"/>
            <a:chOff x="762000" y="1809750"/>
            <a:chExt cx="10668000" cy="4381500"/>
          </a:xfrm>
        </p:grpSpPr>
        <p:grpSp>
          <p:nvGrpSpPr>
            <p:cNvPr id="38" name="Group 38"/>
            <p:cNvGrpSpPr/>
            <p:nvPr/>
          </p:nvGrpSpPr>
          <p:grpSpPr>
            <a:xfrm>
              <a:off x="762000" y="1809750"/>
              <a:ext cx="3429000" cy="2095500"/>
              <a:chOff x="762000" y="1809750"/>
              <a:chExt cx="3429000" cy="2095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620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7620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9334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060449" y="2178050"/>
                <a:ext cx="203202" cy="254001"/>
                <a:chOff x="1060449" y="2178050"/>
                <a:chExt cx="203202" cy="25400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060449" y="2178050"/>
                  <a:ext cx="203202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2" h="254001">
                      <a:moveTo>
                        <a:pt x="101601" y="0"/>
                      </a:moveTo>
                      <a:lnTo>
                        <a:pt x="103087" y="89"/>
                      </a:lnTo>
                      <a:cubicBezTo>
                        <a:pt x="108923" y="777"/>
                        <a:pt x="113524" y="5379"/>
                        <a:pt x="114212" y="11214"/>
                      </a:cubicBezTo>
                      <a:lnTo>
                        <a:pt x="114301" y="12700"/>
                      </a:lnTo>
                      <a:lnTo>
                        <a:pt x="114301" y="63500"/>
                      </a:lnTo>
                      <a:lnTo>
                        <a:pt x="114365" y="65405"/>
                      </a:lnTo>
                      <a:cubicBezTo>
                        <a:pt x="115304" y="77900"/>
                        <a:pt x="125215" y="87844"/>
                        <a:pt x="137707" y="88824"/>
                      </a:cubicBezTo>
                      <a:lnTo>
                        <a:pt x="139701" y="88900"/>
                      </a:lnTo>
                      <a:lnTo>
                        <a:pt x="190501" y="88900"/>
                      </a:lnTo>
                      <a:lnTo>
                        <a:pt x="191987" y="88989"/>
                      </a:lnTo>
                      <a:cubicBezTo>
                        <a:pt x="197823" y="89677"/>
                        <a:pt x="202424" y="94279"/>
                        <a:pt x="203112" y="100114"/>
                      </a:cubicBezTo>
                      <a:lnTo>
                        <a:pt x="203201" y="101600"/>
                      </a:lnTo>
                      <a:lnTo>
                        <a:pt x="203201" y="215900"/>
                      </a:lnTo>
                      <a:cubicBezTo>
                        <a:pt x="203202" y="236075"/>
                        <a:pt x="187476" y="252753"/>
                        <a:pt x="167336" y="253937"/>
                      </a:cubicBezTo>
                      <a:lnTo>
                        <a:pt x="165101" y="254000"/>
                      </a:lnTo>
                      <a:lnTo>
                        <a:pt x="38101" y="254000"/>
                      </a:lnTo>
                      <a:cubicBezTo>
                        <a:pt x="17926" y="254001"/>
                        <a:pt x="1248" y="238275"/>
                        <a:pt x="65" y="218135"/>
                      </a:cubicBezTo>
                      <a:lnTo>
                        <a:pt x="1" y="215900"/>
                      </a:lnTo>
                      <a:lnTo>
                        <a:pt x="1" y="38100"/>
                      </a:lnTo>
                      <a:cubicBezTo>
                        <a:pt x="0" y="17925"/>
                        <a:pt x="15726" y="1247"/>
                        <a:pt x="35866" y="63"/>
                      </a:cubicBezTo>
                      <a:lnTo>
                        <a:pt x="38101" y="0"/>
                      </a:lnTo>
                      <a:close/>
                      <a:moveTo>
                        <a:pt x="81878" y="141046"/>
                      </a:moveTo>
                      <a:cubicBezTo>
                        <a:pt x="75607" y="137915"/>
                        <a:pt x="67985" y="140455"/>
                        <a:pt x="64847" y="146723"/>
                      </a:cubicBezTo>
                      <a:lnTo>
                        <a:pt x="52147" y="172123"/>
                      </a:lnTo>
                      <a:cubicBezTo>
                        <a:pt x="50361" y="175697"/>
                        <a:pt x="50361" y="179903"/>
                        <a:pt x="52147" y="183477"/>
                      </a:cubicBezTo>
                      <a:lnTo>
                        <a:pt x="64847" y="208877"/>
                      </a:lnTo>
                      <a:cubicBezTo>
                        <a:pt x="67985" y="215145"/>
                        <a:pt x="75607" y="217685"/>
                        <a:pt x="81878" y="214554"/>
                      </a:cubicBezTo>
                      <a:lnTo>
                        <a:pt x="83173" y="213817"/>
                      </a:lnTo>
                      <a:cubicBezTo>
                        <a:pt x="88552" y="210281"/>
                        <a:pt x="90435" y="203280"/>
                        <a:pt x="87555" y="197523"/>
                      </a:cubicBezTo>
                      <a:lnTo>
                        <a:pt x="77700" y="177800"/>
                      </a:lnTo>
                      <a:lnTo>
                        <a:pt x="87555" y="158077"/>
                      </a:lnTo>
                      <a:cubicBezTo>
                        <a:pt x="90687" y="151806"/>
                        <a:pt x="88146" y="144184"/>
                        <a:pt x="81878" y="141046"/>
                      </a:cubicBezTo>
                      <a:moveTo>
                        <a:pt x="138355" y="146723"/>
                      </a:moveTo>
                      <a:cubicBezTo>
                        <a:pt x="135217" y="140455"/>
                        <a:pt x="127595" y="137915"/>
                        <a:pt x="121324" y="141046"/>
                      </a:cubicBezTo>
                      <a:lnTo>
                        <a:pt x="120029" y="141783"/>
                      </a:lnTo>
                      <a:cubicBezTo>
                        <a:pt x="114650" y="145319"/>
                        <a:pt x="112767" y="152320"/>
                        <a:pt x="115647" y="158077"/>
                      </a:cubicBezTo>
                      <a:lnTo>
                        <a:pt x="125477" y="177800"/>
                      </a:lnTo>
                      <a:lnTo>
                        <a:pt x="115635" y="197523"/>
                      </a:lnTo>
                      <a:cubicBezTo>
                        <a:pt x="112757" y="203752"/>
                        <a:pt x="115347" y="211140"/>
                        <a:pt x="121484" y="214208"/>
                      </a:cubicBezTo>
                      <a:cubicBezTo>
                        <a:pt x="127621" y="217277"/>
                        <a:pt x="135086" y="214916"/>
                        <a:pt x="138342" y="208877"/>
                      </a:cubicBezTo>
                      <a:lnTo>
                        <a:pt x="151042" y="183477"/>
                      </a:lnTo>
                      <a:cubicBezTo>
                        <a:pt x="152828" y="179903"/>
                        <a:pt x="152828" y="175697"/>
                        <a:pt x="151042" y="172123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00137" y="2190737"/>
                  <a:ext cx="50813" cy="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13" h="50813">
                      <a:moveTo>
                        <a:pt x="50813" y="50813"/>
                      </a:moveTo>
                      <a:lnTo>
                        <a:pt x="13" y="50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506855" y="214026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问题库管理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12570" y="2379345"/>
                <a:ext cx="9232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Question Bank</a:t>
                </a:r>
                <a:endParaRPr 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9334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81075" y="2924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11568" y="2885599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CSV / JSON 静态库导入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981075" y="3171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111568" y="31332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分类、难度、标签维度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981075" y="3419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111568" y="33808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支持增量更新与去重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33450" y="3648075"/>
                <a:ext cx="7620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2E7D32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14199" y="369236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381500" y="1809750"/>
              <a:ext cx="3429000" cy="2095500"/>
              <a:chOff x="4381500" y="1809750"/>
              <a:chExt cx="3429000" cy="2095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3815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815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3815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5529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54550" y="219075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3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67640" y="117932"/>
                    </a:moveTo>
                    <a:cubicBezTo>
                      <a:pt x="162632" y="113023"/>
                      <a:pt x="154592" y="113103"/>
                      <a:pt x="149682" y="118110"/>
                    </a:cubicBezTo>
                    <a:cubicBezTo>
                      <a:pt x="143710" y="124207"/>
                      <a:pt x="135535" y="127643"/>
                      <a:pt x="127000" y="127643"/>
                    </a:cubicBezTo>
                    <a:cubicBezTo>
                      <a:pt x="118465" y="127643"/>
                      <a:pt x="110290" y="124207"/>
                      <a:pt x="104318" y="118110"/>
                    </a:cubicBezTo>
                    <a:cubicBezTo>
                      <a:pt x="99387" y="113222"/>
                      <a:pt x="91444" y="113200"/>
                      <a:pt x="86486" y="118061"/>
                    </a:cubicBezTo>
                    <a:cubicBezTo>
                      <a:pt x="81528" y="122922"/>
                      <a:pt x="81393" y="130863"/>
                      <a:pt x="86182" y="135890"/>
                    </a:cubicBezTo>
                    <a:cubicBezTo>
                      <a:pt x="96931" y="146859"/>
                      <a:pt x="111642" y="153040"/>
                      <a:pt x="127000" y="153040"/>
                    </a:cubicBezTo>
                    <a:cubicBezTo>
                      <a:pt x="142358" y="153040"/>
                      <a:pt x="157069" y="146859"/>
                      <a:pt x="167818" y="135890"/>
                    </a:cubicBezTo>
                    <a:cubicBezTo>
                      <a:pt x="172727" y="130882"/>
                      <a:pt x="172647" y="122842"/>
                      <a:pt x="167640" y="117932"/>
                    </a:cubicBezTo>
                    <a:moveTo>
                      <a:pt x="95377" y="63500"/>
                    </a:moveTo>
                    <a:lnTo>
                      <a:pt x="95250" y="63500"/>
                    </a:lnTo>
                    <a:cubicBezTo>
                      <a:pt x="88236" y="63500"/>
                      <a:pt x="82550" y="69186"/>
                      <a:pt x="82550" y="76200"/>
                    </a:cubicBezTo>
                    <a:cubicBezTo>
                      <a:pt x="82550" y="83214"/>
                      <a:pt x="88236" y="88900"/>
                      <a:pt x="95250" y="88900"/>
                    </a:cubicBezTo>
                    <a:lnTo>
                      <a:pt x="95377" y="88900"/>
                    </a:lnTo>
                    <a:cubicBezTo>
                      <a:pt x="102391" y="88900"/>
                      <a:pt x="108077" y="83214"/>
                      <a:pt x="108077" y="76200"/>
                    </a:cubicBezTo>
                    <a:cubicBezTo>
                      <a:pt x="108077" y="69186"/>
                      <a:pt x="102391" y="63500"/>
                      <a:pt x="95377" y="63500"/>
                    </a:cubicBezTo>
                    <a:moveTo>
                      <a:pt x="158877" y="63500"/>
                    </a:moveTo>
                    <a:lnTo>
                      <a:pt x="158750" y="63500"/>
                    </a:lnTo>
                    <a:cubicBezTo>
                      <a:pt x="151736" y="63500"/>
                      <a:pt x="146050" y="69186"/>
                      <a:pt x="146050" y="76200"/>
                    </a:cubicBezTo>
                    <a:cubicBezTo>
                      <a:pt x="146050" y="83214"/>
                      <a:pt x="151736" y="88900"/>
                      <a:pt x="158750" y="88900"/>
                    </a:cubicBezTo>
                    <a:lnTo>
                      <a:pt x="158877" y="88900"/>
                    </a:lnTo>
                    <a:cubicBezTo>
                      <a:pt x="165891" y="88900"/>
                      <a:pt x="171577" y="83214"/>
                      <a:pt x="171577" y="76200"/>
                    </a:cubicBezTo>
                    <a:cubicBezTo>
                      <a:pt x="171577" y="69186"/>
                      <a:pt x="165891" y="63500"/>
                      <a:pt x="158877" y="6350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126355" y="21402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面试会话与回放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132070" y="2379345"/>
                <a:ext cx="11204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Sessions &amp; Replay</a:t>
                </a:r>
                <a:endParaRPr 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45529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4600575" y="2924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4731068" y="28855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多轮对话上下文管理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4600575" y="3171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731068" y="31332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历史会话持久化记录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4600575" y="3419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731068" y="338089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会话回放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4552950" y="3648075"/>
                <a:ext cx="7620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2E7D32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733699" y="369236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001000" y="1809750"/>
              <a:ext cx="3429000" cy="2095500"/>
              <a:chOff x="8001000" y="1809750"/>
              <a:chExt cx="3429000" cy="20955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0010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0010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0010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724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63934" y="2166129"/>
                <a:ext cx="265208" cy="267013"/>
              </a:xfrm>
              <a:custGeom>
                <a:avLst/>
                <a:gdLst/>
                <a:ahLst/>
                <a:cxnLst/>
                <a:rect l="l" t="t" r="r" b="b"/>
                <a:pathLst>
                  <a:path w="265208" h="267013">
                    <a:moveTo>
                      <a:pt x="162516" y="25536"/>
                    </a:moveTo>
                    <a:cubicBezTo>
                      <a:pt x="187942" y="40213"/>
                      <a:pt x="205776" y="65171"/>
                      <a:pt x="211424" y="93981"/>
                    </a:cubicBezTo>
                    <a:cubicBezTo>
                      <a:pt x="217072" y="122791"/>
                      <a:pt x="209982" y="152636"/>
                      <a:pt x="191980" y="175827"/>
                    </a:cubicBezTo>
                    <a:lnTo>
                      <a:pt x="260395" y="244242"/>
                    </a:lnTo>
                    <a:cubicBezTo>
                      <a:pt x="265208" y="249226"/>
                      <a:pt x="265139" y="257147"/>
                      <a:pt x="260240" y="262045"/>
                    </a:cubicBezTo>
                    <a:cubicBezTo>
                      <a:pt x="255341" y="266944"/>
                      <a:pt x="247420" y="267013"/>
                      <a:pt x="242437" y="262200"/>
                    </a:cubicBezTo>
                    <a:lnTo>
                      <a:pt x="174009" y="193785"/>
                    </a:lnTo>
                    <a:cubicBezTo>
                      <a:pt x="133674" y="225084"/>
                      <a:pt x="76376" y="221588"/>
                      <a:pt x="40144" y="185619"/>
                    </a:cubicBezTo>
                    <a:cubicBezTo>
                      <a:pt x="3912" y="149649"/>
                      <a:pt x="0" y="92379"/>
                      <a:pt x="31004" y="51816"/>
                    </a:cubicBezTo>
                    <a:cubicBezTo>
                      <a:pt x="62009" y="11254"/>
                      <a:pt x="118299" y="0"/>
                      <a:pt x="162516" y="25523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745855" y="214026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向量检索增强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751570" y="2379345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Vector RAG</a:t>
                </a:r>
                <a:endParaRPr 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81724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8220075" y="2924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350568" y="2885599"/>
                <a:ext cx="14060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pgvector 相似度检索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8220075" y="3171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350568" y="3133249"/>
                <a:ext cx="13775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Top-K 召回 + Rerank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8220075" y="3419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350568" y="3380899"/>
                <a:ext cx="1334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embedding 缓存复用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172450" y="3648075"/>
                <a:ext cx="7620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2E7D32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353199" y="369236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762000" y="4095750"/>
              <a:ext cx="3429000" cy="2095500"/>
              <a:chOff x="762000" y="4095750"/>
              <a:chExt cx="3429000" cy="20955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7620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7620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7620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9334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1047749" y="4464050"/>
                <a:ext cx="228601" cy="254000"/>
                <a:chOff x="1047749" y="4464050"/>
                <a:chExt cx="228601" cy="254000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1047750" y="463843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3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47750" y="456223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1047749" y="446405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1506855" y="442626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简历辅助问答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512570" y="4665345"/>
                <a:ext cx="6932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Resume QA</a:t>
                </a:r>
                <a:endParaRPr 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Line 83"/>
              <p:cNvSpPr/>
              <p:nvPr/>
            </p:nvSpPr>
            <p:spPr>
              <a:xfrm>
                <a:off x="9334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9810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1111568" y="517159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简历文本入库与切片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81075" y="5457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111568" y="54192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基于经历生成追问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981075" y="5705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1111568" y="566689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命中段落溯源展示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4381500" y="4095750"/>
              <a:ext cx="3429000" cy="2095500"/>
              <a:chOff x="4381500" y="4095750"/>
              <a:chExt cx="3429000" cy="20955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3815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43815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95" name="Rectangle 95"/>
              <p:cNvSpPr/>
              <p:nvPr/>
            </p:nvSpPr>
            <p:spPr>
              <a:xfrm>
                <a:off x="43815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45529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4645736" y="4455236"/>
                <a:ext cx="271628" cy="271628"/>
              </a:xfrm>
              <a:custGeom>
                <a:avLst/>
                <a:gdLst/>
                <a:ahLst/>
                <a:cxnLst/>
                <a:rect l="l" t="t" r="r" b="b"/>
                <a:pathLst>
                  <a:path w="271628" h="271628">
                    <a:moveTo>
                      <a:pt x="169431" y="35242"/>
                    </a:moveTo>
                    <a:cubicBezTo>
                      <a:pt x="170122" y="38095"/>
                      <a:pt x="172133" y="40446"/>
                      <a:pt x="174844" y="41570"/>
                    </a:cubicBezTo>
                    <a:cubicBezTo>
                      <a:pt x="177555" y="42695"/>
                      <a:pt x="180640" y="42458"/>
                      <a:pt x="183147" y="40932"/>
                    </a:cubicBezTo>
                    <a:cubicBezTo>
                      <a:pt x="214122" y="22073"/>
                      <a:pt x="249568" y="57506"/>
                      <a:pt x="230708" y="88481"/>
                    </a:cubicBezTo>
                    <a:cubicBezTo>
                      <a:pt x="229182" y="90986"/>
                      <a:pt x="228944" y="94069"/>
                      <a:pt x="230066" y="96780"/>
                    </a:cubicBezTo>
                    <a:cubicBezTo>
                      <a:pt x="231187" y="99490"/>
                      <a:pt x="233535" y="101503"/>
                      <a:pt x="236385" y="102197"/>
                    </a:cubicBezTo>
                    <a:cubicBezTo>
                      <a:pt x="271628" y="110744"/>
                      <a:pt x="271628" y="160871"/>
                      <a:pt x="236385" y="169431"/>
                    </a:cubicBezTo>
                    <a:cubicBezTo>
                      <a:pt x="233533" y="170122"/>
                      <a:pt x="231182" y="172133"/>
                      <a:pt x="230057" y="174844"/>
                    </a:cubicBezTo>
                    <a:cubicBezTo>
                      <a:pt x="228933" y="177555"/>
                      <a:pt x="229170" y="180640"/>
                      <a:pt x="230696" y="183147"/>
                    </a:cubicBezTo>
                    <a:cubicBezTo>
                      <a:pt x="249555" y="214122"/>
                      <a:pt x="214122" y="249568"/>
                      <a:pt x="183147" y="230708"/>
                    </a:cubicBezTo>
                    <a:cubicBezTo>
                      <a:pt x="180641" y="229182"/>
                      <a:pt x="177558" y="228944"/>
                      <a:pt x="174848" y="230066"/>
                    </a:cubicBezTo>
                    <a:cubicBezTo>
                      <a:pt x="172137" y="231187"/>
                      <a:pt x="170125" y="233535"/>
                      <a:pt x="169431" y="236385"/>
                    </a:cubicBezTo>
                    <a:cubicBezTo>
                      <a:pt x="160884" y="271628"/>
                      <a:pt x="110757" y="271628"/>
                      <a:pt x="102197" y="236385"/>
                    </a:cubicBezTo>
                    <a:cubicBezTo>
                      <a:pt x="101506" y="233533"/>
                      <a:pt x="99495" y="231182"/>
                      <a:pt x="96784" y="230057"/>
                    </a:cubicBezTo>
                    <a:cubicBezTo>
                      <a:pt x="94073" y="228933"/>
                      <a:pt x="90988" y="229170"/>
                      <a:pt x="88481" y="230696"/>
                    </a:cubicBezTo>
                    <a:cubicBezTo>
                      <a:pt x="57506" y="249555"/>
                      <a:pt x="22060" y="214122"/>
                      <a:pt x="40919" y="183147"/>
                    </a:cubicBezTo>
                    <a:cubicBezTo>
                      <a:pt x="42445" y="180641"/>
                      <a:pt x="42684" y="177558"/>
                      <a:pt x="41562" y="174848"/>
                    </a:cubicBezTo>
                    <a:cubicBezTo>
                      <a:pt x="40440" y="172137"/>
                      <a:pt x="38093" y="170125"/>
                      <a:pt x="35242" y="169431"/>
                    </a:cubicBezTo>
                    <a:cubicBezTo>
                      <a:pt x="0" y="160884"/>
                      <a:pt x="0" y="110757"/>
                      <a:pt x="35242" y="102197"/>
                    </a:cubicBezTo>
                    <a:cubicBezTo>
                      <a:pt x="38095" y="101506"/>
                      <a:pt x="40446" y="99495"/>
                      <a:pt x="41570" y="96784"/>
                    </a:cubicBezTo>
                    <a:cubicBezTo>
                      <a:pt x="42695" y="94073"/>
                      <a:pt x="42458" y="90988"/>
                      <a:pt x="40932" y="88481"/>
                    </a:cubicBezTo>
                    <a:cubicBezTo>
                      <a:pt x="22073" y="57506"/>
                      <a:pt x="57506" y="22060"/>
                      <a:pt x="88481" y="40919"/>
                    </a:cubicBezTo>
                    <a:cubicBezTo>
                      <a:pt x="90984" y="42457"/>
                      <a:pt x="94072" y="42702"/>
                      <a:pt x="96786" y="41578"/>
                    </a:cubicBezTo>
                    <a:cubicBezTo>
                      <a:pt x="99501" y="40455"/>
                      <a:pt x="101512" y="38099"/>
                      <a:pt x="102197" y="35242"/>
                    </a:cubicBezTo>
                    <a:cubicBezTo>
                      <a:pt x="110744" y="0"/>
                      <a:pt x="160871" y="0"/>
                      <a:pt x="169431" y="35242"/>
                    </a:cubicBezTo>
                    <a:close/>
                    <a:moveTo>
                      <a:pt x="135814" y="97714"/>
                    </a:moveTo>
                    <a:cubicBezTo>
                      <a:pt x="114772" y="97714"/>
                      <a:pt x="97714" y="114772"/>
                      <a:pt x="97714" y="135814"/>
                    </a:cubicBezTo>
                    <a:cubicBezTo>
                      <a:pt x="97714" y="156856"/>
                      <a:pt x="114772" y="173914"/>
                      <a:pt x="135814" y="173914"/>
                    </a:cubicBezTo>
                    <a:cubicBezTo>
                      <a:pt x="156856" y="173914"/>
                      <a:pt x="173914" y="156856"/>
                      <a:pt x="173914" y="135814"/>
                    </a:cubicBezTo>
                    <a:cubicBezTo>
                      <a:pt x="173914" y="114772"/>
                      <a:pt x="156856" y="97714"/>
                      <a:pt x="135814" y="97714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5126355" y="44262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模型接入与切换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5132070" y="4665345"/>
                <a:ext cx="10021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Fake &amp; Real LLM</a:t>
                </a:r>
                <a:endParaRPr 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0" name="Line 100"/>
              <p:cNvSpPr/>
              <p:nvPr/>
            </p:nvSpPr>
            <p:spPr>
              <a:xfrm>
                <a:off x="45529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6005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4731068" y="517159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假模型零成本演示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4600575" y="5457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4731068" y="541924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统一接口可插拔 LLM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4600575" y="5705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4731068" y="566689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支持本地或云端供应商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7" name="Rectangle 107"/>
              <p:cNvSpPr/>
              <p:nvPr/>
            </p:nvSpPr>
            <p:spPr>
              <a:xfrm>
                <a:off x="4552950" y="5934075"/>
                <a:ext cx="7620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2E7D32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4733699" y="597836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8001000" y="4095750"/>
              <a:ext cx="3429000" cy="2095500"/>
              <a:chOff x="8001000" y="4095750"/>
              <a:chExt cx="3429000" cy="209550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80010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111" name="Rectangle 111"/>
              <p:cNvSpPr/>
              <p:nvPr/>
            </p:nvSpPr>
            <p:spPr>
              <a:xfrm>
                <a:off x="80010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80010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113" name="Rectangle 113"/>
              <p:cNvSpPr/>
              <p:nvPr/>
            </p:nvSpPr>
            <p:spPr>
              <a:xfrm>
                <a:off x="81724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274050" y="4473384"/>
                <a:ext cx="254000" cy="231997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31997">
                    <a:moveTo>
                      <a:pt x="168427" y="17170"/>
                    </a:moveTo>
                    <a:cubicBezTo>
                      <a:pt x="180797" y="26924"/>
                      <a:pt x="188316" y="40640"/>
                      <a:pt x="189738" y="55232"/>
                    </a:cubicBezTo>
                    <a:lnTo>
                      <a:pt x="189827" y="56591"/>
                    </a:lnTo>
                    <a:lnTo>
                      <a:pt x="192113" y="56909"/>
                    </a:lnTo>
                    <a:cubicBezTo>
                      <a:pt x="212235" y="60173"/>
                      <a:pt x="227380" y="76992"/>
                      <a:pt x="228524" y="97346"/>
                    </a:cubicBezTo>
                    <a:lnTo>
                      <a:pt x="228600" y="99733"/>
                    </a:lnTo>
                    <a:cubicBezTo>
                      <a:pt x="228544" y="123706"/>
                      <a:pt x="209076" y="143101"/>
                      <a:pt x="185103" y="143066"/>
                    </a:cubicBezTo>
                    <a:lnTo>
                      <a:pt x="139700" y="143066"/>
                    </a:lnTo>
                    <a:lnTo>
                      <a:pt x="139713" y="157937"/>
                    </a:lnTo>
                    <a:cubicBezTo>
                      <a:pt x="150567" y="161773"/>
                      <a:pt x="159105" y="170311"/>
                      <a:pt x="162941" y="181166"/>
                    </a:cubicBezTo>
                    <a:lnTo>
                      <a:pt x="241300" y="181166"/>
                    </a:lnTo>
                    <a:cubicBezTo>
                      <a:pt x="248314" y="181166"/>
                      <a:pt x="254000" y="186851"/>
                      <a:pt x="254000" y="193866"/>
                    </a:cubicBezTo>
                    <a:cubicBezTo>
                      <a:pt x="254000" y="200880"/>
                      <a:pt x="248314" y="206566"/>
                      <a:pt x="241300" y="206566"/>
                    </a:cubicBezTo>
                    <a:lnTo>
                      <a:pt x="162941" y="206566"/>
                    </a:lnTo>
                    <a:cubicBezTo>
                      <a:pt x="157564" y="221805"/>
                      <a:pt x="143160" y="231997"/>
                      <a:pt x="127000" y="231997"/>
                    </a:cubicBezTo>
                    <a:cubicBezTo>
                      <a:pt x="110840" y="231997"/>
                      <a:pt x="96436" y="221805"/>
                      <a:pt x="91059" y="206566"/>
                    </a:cubicBezTo>
                    <a:lnTo>
                      <a:pt x="12700" y="206566"/>
                    </a:lnTo>
                    <a:cubicBezTo>
                      <a:pt x="5686" y="206566"/>
                      <a:pt x="0" y="200880"/>
                      <a:pt x="0" y="193866"/>
                    </a:cubicBezTo>
                    <a:cubicBezTo>
                      <a:pt x="0" y="186851"/>
                      <a:pt x="5686" y="181166"/>
                      <a:pt x="12700" y="181166"/>
                    </a:cubicBezTo>
                    <a:lnTo>
                      <a:pt x="91072" y="181166"/>
                    </a:lnTo>
                    <a:cubicBezTo>
                      <a:pt x="94904" y="170306"/>
                      <a:pt x="103443" y="161763"/>
                      <a:pt x="114300" y="157925"/>
                    </a:cubicBezTo>
                    <a:lnTo>
                      <a:pt x="114300" y="143066"/>
                    </a:lnTo>
                    <a:lnTo>
                      <a:pt x="79502" y="143066"/>
                    </a:lnTo>
                    <a:cubicBezTo>
                      <a:pt x="49771" y="143066"/>
                      <a:pt x="25400" y="119875"/>
                      <a:pt x="25400" y="90957"/>
                    </a:cubicBezTo>
                    <a:cubicBezTo>
                      <a:pt x="25400" y="65545"/>
                      <a:pt x="44209" y="44539"/>
                      <a:pt x="68961" y="39827"/>
                    </a:cubicBezTo>
                    <a:lnTo>
                      <a:pt x="70053" y="39637"/>
                    </a:lnTo>
                    <a:lnTo>
                      <a:pt x="70676" y="38214"/>
                    </a:lnTo>
                    <a:cubicBezTo>
                      <a:pt x="77203" y="23940"/>
                      <a:pt x="89827" y="12687"/>
                      <a:pt x="105677" y="7137"/>
                    </a:cubicBezTo>
                    <a:lnTo>
                      <a:pt x="108496" y="6223"/>
                    </a:lnTo>
                    <a:cubicBezTo>
                      <a:pt x="129159" y="0"/>
                      <a:pt x="151930" y="4115"/>
                      <a:pt x="168440" y="1717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8745855" y="4426268"/>
                <a:ext cx="685800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简历管理</a:t>
                </a:r>
                <a:endParaRPr lang="zh-CN" sz="135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8751570" y="4665345"/>
                <a:ext cx="42545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</a:t>
                </a:r>
                <a:r>
                  <a:rPr lang="en-US" altLang="zh-CN" sz="900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esume</a:t>
                </a:r>
                <a:endParaRPr lang="en-US" altLang="zh-CN" sz="900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7" name="Line 117"/>
              <p:cNvSpPr/>
              <p:nvPr/>
            </p:nvSpPr>
            <p:spPr>
              <a:xfrm>
                <a:off x="81724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118" name="Ellipse 118"/>
              <p:cNvSpPr/>
              <p:nvPr/>
            </p:nvSpPr>
            <p:spPr>
              <a:xfrm>
                <a:off x="82200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8350568" y="517159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简历编辑</a:t>
                </a:r>
                <a:endParaRPr lang="zh-CN" altLang="en-US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0" name="Ellipse 120"/>
              <p:cNvSpPr/>
              <p:nvPr/>
            </p:nvSpPr>
            <p:spPr>
              <a:xfrm>
                <a:off x="8220075" y="5457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8350568" y="541924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</a:t>
                </a:r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上传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2" name="Ellipse 122"/>
              <p:cNvSpPr/>
              <p:nvPr/>
            </p:nvSpPr>
            <p:spPr>
              <a:xfrm>
                <a:off x="8220075" y="57054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8350568" y="5666899"/>
                <a:ext cx="49784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</a:t>
                </a:r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分析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4" name="Rectangle 124"/>
              <p:cNvSpPr/>
              <p:nvPr/>
            </p:nvSpPr>
            <p:spPr>
              <a:xfrm>
                <a:off x="8172450" y="5934075"/>
                <a:ext cx="762000" cy="190500"/>
              </a:xfrm>
              <a:prstGeom prst="roundRect">
                <a:avLst>
                  <a:gd name="adj" fmla="val 50000"/>
                </a:avLst>
              </a:prstGeom>
              <a:solidFill>
                <a:srgbClr val="2E7D32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8353199" y="5978366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82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4" name="Rectangle 53"/>
          <p:cNvSpPr/>
          <p:nvPr/>
        </p:nvSpPr>
        <p:spPr>
          <a:xfrm>
            <a:off x="923925" y="5937885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>
            <a:noFill/>
          </a:ln>
        </p:spPr>
      </p:sp>
      <p:sp>
        <p:nvSpPr>
          <p:cNvPr id="15" name="TextBox 54"/>
          <p:cNvSpPr txBox="1"/>
          <p:nvPr/>
        </p:nvSpPr>
        <p:spPr>
          <a:xfrm>
            <a:off x="1104674" y="598217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825" b="1" dirty="0">
                <a:solidFill>
                  <a:srgbClr val="2E7D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已完成</a:t>
            </a:r>
            <a:endParaRPr lang="zh-CN" sz="825" b="1" dirty="0">
              <a:solidFill>
                <a:srgbClr val="2E7D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2560320"/>
            <a:ext cx="12191999" cy="18288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8" y="2560320"/>
            <a:ext cx="137160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838" y="292608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PART 0</a:t>
            </a:r>
            <a:r>
              <a:rPr lang="en-US"/>
              <a:t>3</a:t>
            </a:r>
            <a:r>
              <a:t> · </a:t>
            </a:r>
            <a:r>
              <a:rPr lang="zh-CN"/>
              <a:t>技术架构与流程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571500" y="-842645"/>
            <a:ext cx="13525500" cy="8001000"/>
            <a:chOff x="-571500" y="-571500"/>
            <a:chExt cx="13525500" cy="8001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668000" y="-571500"/>
              <a:ext cx="2286000" cy="228600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571500" y="5524500"/>
              <a:ext cx="1905000" cy="1905000"/>
            </a:xfrm>
            <a:prstGeom prst="ellipse">
              <a:avLst/>
            </a:prstGeom>
            <a:solidFill>
              <a:srgbClr val="FFB300">
                <a:alpha val="5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495300"/>
            <a:ext cx="4206335" cy="614362"/>
            <a:chOff x="762000" y="495300"/>
            <a:chExt cx="4206335" cy="614362"/>
          </a:xfrm>
        </p:grpSpPr>
        <p:sp>
          <p:nvSpPr>
            <p:cNvPr id="7" name="Rectangle 7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020" y="502920"/>
              <a:ext cx="3005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技术架构（高层）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896302"/>
              <a:ext cx="40291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Layered Architecture · Presentation / Service / Data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1809750"/>
            <a:ext cx="7810500" cy="1143000"/>
            <a:chOff x="762000" y="1809750"/>
            <a:chExt cx="78105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1809750"/>
              <a:ext cx="7810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6E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1809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1809750"/>
              <a:ext cx="7810500" cy="28575"/>
            </a:xfrm>
            <a:prstGeom prst="rect">
              <a:avLst/>
            </a:pr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09650" y="1981200"/>
              <a:ext cx="3810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0063" y="2026920"/>
              <a:ext cx="140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L1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6850" y="19621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前端展示层</a:t>
              </a:r>
              <a:endParaRPr lang="zh-CN" sz="15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73518" y="22188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Presentation · Vite + Vue 3</a:t>
              </a:r>
              <a:endPara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009650" y="2495550"/>
              <a:ext cx="7048500" cy="381000"/>
              <a:chOff x="1009650" y="2495550"/>
              <a:chExt cx="7048500" cy="381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09650" y="2495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49668" y="2637949"/>
                <a:ext cx="9218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演示对话界面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312670" y="2646045"/>
                <a:ext cx="8246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Vue Router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390900" y="2495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530918" y="263794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问题库管理界面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93920" y="2646045"/>
                <a:ext cx="4303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Pinia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772150" y="2495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912168" y="2637949"/>
                <a:ext cx="9218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会话回放视图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075170" y="2646045"/>
                <a:ext cx="4632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Axios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762000" y="3143250"/>
            <a:ext cx="7815330" cy="1524000"/>
            <a:chOff x="762000" y="3143250"/>
            <a:chExt cx="7815330" cy="1524000"/>
          </a:xfrm>
        </p:grpSpPr>
        <p:sp>
          <p:nvSpPr>
            <p:cNvPr id="34" name="Rectangle 34"/>
            <p:cNvSpPr/>
            <p:nvPr/>
          </p:nvSpPr>
          <p:spPr>
            <a:xfrm>
              <a:off x="762000" y="3143250"/>
              <a:ext cx="78105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6E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143250"/>
              <a:ext cx="76200" cy="1524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3143250"/>
              <a:ext cx="7810500" cy="28575"/>
            </a:xfrm>
            <a:prstGeom prst="rect">
              <a:avLst/>
            </a:pr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09650" y="3314700"/>
              <a:ext cx="3810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12811" y="3360420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L2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66850" y="32956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服务编排层</a:t>
              </a:r>
              <a:endParaRPr lang="zh-CN" sz="15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3518" y="3552349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Service · FastAPI · 业务编排与领域服务</a:t>
              </a:r>
              <a:endPara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09650" y="3829050"/>
              <a:ext cx="7567680" cy="723900"/>
              <a:chOff x="1009650" y="3829050"/>
              <a:chExt cx="7567680" cy="723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1009650" y="3829050"/>
                <a:ext cx="171450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0F2E52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149668" y="3952399"/>
                <a:ext cx="1228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auth · questions</a:t>
                </a:r>
                <a:endParaRPr lang="zh-CN" sz="975" b="1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2819400" y="3829050"/>
                <a:ext cx="171450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0F2E52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2959418" y="3952399"/>
                <a:ext cx="12209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interviews · rag</a:t>
                </a:r>
                <a:endParaRPr lang="zh-CN" sz="975" b="1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4629150" y="3829050"/>
                <a:ext cx="171450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0F2E52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769168" y="3952399"/>
                <a:ext cx="13779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embedding_service</a:t>
                </a:r>
                <a:endParaRPr lang="zh-CN" sz="975" b="1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438900" y="3829050"/>
                <a:ext cx="190500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0F2E52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578918" y="3952399"/>
                <a:ext cx="19984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vector_store · fake_model</a:t>
                </a:r>
                <a:endParaRPr lang="zh-CN" sz="975" b="1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09650" y="4286250"/>
                <a:ext cx="733425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565C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08802" y="4348162"/>
                <a:ext cx="144859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144859" h="143150">
                    <a:moveTo>
                      <a:pt x="142894" y="99639"/>
                    </a:moveTo>
                    <a:cubicBezTo>
                      <a:pt x="144851" y="103559"/>
                      <a:pt x="143263" y="108323"/>
                      <a:pt x="139346" y="110284"/>
                    </a:cubicBezTo>
                    <a:lnTo>
                      <a:pt x="75846" y="142034"/>
                    </a:lnTo>
                    <a:cubicBezTo>
                      <a:pt x="73612" y="143150"/>
                      <a:pt x="70984" y="143150"/>
                      <a:pt x="68750" y="142034"/>
                    </a:cubicBezTo>
                    <a:lnTo>
                      <a:pt x="5250" y="110284"/>
                    </a:lnTo>
                    <a:cubicBezTo>
                      <a:pt x="1475" y="108248"/>
                      <a:pt x="0" y="103583"/>
                      <a:pt x="1918" y="99747"/>
                    </a:cubicBezTo>
                    <a:cubicBezTo>
                      <a:pt x="3836" y="95912"/>
                      <a:pt x="8453" y="94293"/>
                      <a:pt x="12346" y="96091"/>
                    </a:cubicBezTo>
                    <a:lnTo>
                      <a:pt x="72298" y="126048"/>
                    </a:lnTo>
                    <a:lnTo>
                      <a:pt x="132258" y="96083"/>
                    </a:lnTo>
                    <a:cubicBezTo>
                      <a:pt x="136177" y="94126"/>
                      <a:pt x="140941" y="95714"/>
                      <a:pt x="142902" y="99631"/>
                    </a:cubicBezTo>
                    <a:moveTo>
                      <a:pt x="142902" y="67881"/>
                    </a:moveTo>
                    <a:cubicBezTo>
                      <a:pt x="144859" y="71801"/>
                      <a:pt x="143271" y="76565"/>
                      <a:pt x="139354" y="78526"/>
                    </a:cubicBezTo>
                    <a:lnTo>
                      <a:pt x="75854" y="110276"/>
                    </a:lnTo>
                    <a:cubicBezTo>
                      <a:pt x="73620" y="111392"/>
                      <a:pt x="70991" y="111392"/>
                      <a:pt x="68758" y="110276"/>
                    </a:cubicBezTo>
                    <a:lnTo>
                      <a:pt x="5258" y="78526"/>
                    </a:lnTo>
                    <a:cubicBezTo>
                      <a:pt x="1483" y="76490"/>
                      <a:pt x="8" y="71825"/>
                      <a:pt x="1926" y="67990"/>
                    </a:cubicBezTo>
                    <a:cubicBezTo>
                      <a:pt x="3843" y="64154"/>
                      <a:pt x="8461" y="62535"/>
                      <a:pt x="12354" y="64333"/>
                    </a:cubicBezTo>
                    <a:lnTo>
                      <a:pt x="72298" y="94297"/>
                    </a:lnTo>
                    <a:lnTo>
                      <a:pt x="132258" y="64333"/>
                    </a:lnTo>
                    <a:cubicBezTo>
                      <a:pt x="136177" y="62376"/>
                      <a:pt x="140941" y="63964"/>
                      <a:pt x="142902" y="67881"/>
                    </a:cubicBezTo>
                    <a:moveTo>
                      <a:pt x="72361" y="0"/>
                    </a:moveTo>
                    <a:cubicBezTo>
                      <a:pt x="72658" y="0"/>
                      <a:pt x="72951" y="19"/>
                      <a:pt x="73242" y="56"/>
                    </a:cubicBezTo>
                    <a:lnTo>
                      <a:pt x="74124" y="214"/>
                    </a:lnTo>
                    <a:lnTo>
                      <a:pt x="74806" y="405"/>
                    </a:lnTo>
                    <a:lnTo>
                      <a:pt x="74901" y="452"/>
                    </a:lnTo>
                    <a:lnTo>
                      <a:pt x="74997" y="468"/>
                    </a:lnTo>
                    <a:lnTo>
                      <a:pt x="75227" y="579"/>
                    </a:lnTo>
                    <a:lnTo>
                      <a:pt x="75624" y="730"/>
                    </a:lnTo>
                    <a:lnTo>
                      <a:pt x="75751" y="802"/>
                    </a:lnTo>
                    <a:lnTo>
                      <a:pt x="75846" y="841"/>
                    </a:lnTo>
                    <a:lnTo>
                      <a:pt x="139346" y="32591"/>
                    </a:lnTo>
                    <a:cubicBezTo>
                      <a:pt x="142031" y="33937"/>
                      <a:pt x="143727" y="36684"/>
                      <a:pt x="143727" y="39688"/>
                    </a:cubicBezTo>
                    <a:cubicBezTo>
                      <a:pt x="143727" y="42691"/>
                      <a:pt x="142031" y="45438"/>
                      <a:pt x="139346" y="46784"/>
                    </a:cubicBezTo>
                    <a:lnTo>
                      <a:pt x="75846" y="78534"/>
                    </a:lnTo>
                    <a:cubicBezTo>
                      <a:pt x="73612" y="79650"/>
                      <a:pt x="70984" y="79650"/>
                      <a:pt x="68750" y="78534"/>
                    </a:cubicBezTo>
                    <a:lnTo>
                      <a:pt x="5250" y="46784"/>
                    </a:lnTo>
                    <a:cubicBezTo>
                      <a:pt x="2564" y="45438"/>
                      <a:pt x="869" y="42691"/>
                      <a:pt x="869" y="39688"/>
                    </a:cubicBezTo>
                    <a:cubicBezTo>
                      <a:pt x="869" y="36684"/>
                      <a:pt x="2564" y="33937"/>
                      <a:pt x="5250" y="32591"/>
                    </a:cubicBezTo>
                    <a:lnTo>
                      <a:pt x="68750" y="841"/>
                    </a:lnTo>
                    <a:lnTo>
                      <a:pt x="68837" y="802"/>
                    </a:lnTo>
                    <a:lnTo>
                      <a:pt x="68980" y="722"/>
                    </a:lnTo>
                    <a:lnTo>
                      <a:pt x="69599" y="468"/>
                    </a:lnTo>
                    <a:lnTo>
                      <a:pt x="69686" y="452"/>
                    </a:lnTo>
                    <a:lnTo>
                      <a:pt x="69790" y="405"/>
                    </a:lnTo>
                    <a:lnTo>
                      <a:pt x="70472" y="214"/>
                    </a:lnTo>
                    <a:lnTo>
                      <a:pt x="71345" y="56"/>
                    </a:lnTo>
                    <a:lnTo>
                      <a:pt x="71790" y="16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321118" y="4352449"/>
                <a:ext cx="44604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REST API · OpenAPI 文档 · 健康检查 · 依赖注入 · CORS / 限流中间件</a:t>
                </a:r>
                <a:endParaRPr lang="zh-CN" sz="975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762000" y="4857750"/>
            <a:ext cx="7810500" cy="1143000"/>
            <a:chOff x="762000" y="4857750"/>
            <a:chExt cx="7810500" cy="1143000"/>
          </a:xfrm>
        </p:grpSpPr>
        <p:sp>
          <p:nvSpPr>
            <p:cNvPr id="54" name="Rectangle 54"/>
            <p:cNvSpPr/>
            <p:nvPr/>
          </p:nvSpPr>
          <p:spPr>
            <a:xfrm>
              <a:off x="762000" y="4857750"/>
              <a:ext cx="7810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6ED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2000" y="4857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" y="4857750"/>
              <a:ext cx="7810500" cy="28575"/>
            </a:xfrm>
            <a:prstGeom prst="rect">
              <a:avLst/>
            </a:pr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9650" y="5029200"/>
              <a:ext cx="381000" cy="2095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12811" y="5074920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L3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66850" y="5010150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数据存储层</a:t>
              </a:r>
              <a:endParaRPr lang="zh-CN" sz="1500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73518" y="5266849"/>
              <a:ext cx="28371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Data · PostgreSQL + pgvector + 文件存储</a:t>
              </a:r>
              <a:endParaRPr lang="zh-CN" sz="975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8" name="Group 78"/>
            <p:cNvGrpSpPr/>
            <p:nvPr/>
          </p:nvGrpSpPr>
          <p:grpSpPr>
            <a:xfrm>
              <a:off x="1009650" y="5543550"/>
              <a:ext cx="7048500" cy="381000"/>
              <a:chOff x="1009650" y="5543550"/>
              <a:chExt cx="7048500" cy="3810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1009650" y="5543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B300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1131093" y="5646738"/>
                <a:ext cx="157163" cy="174624"/>
                <a:chOff x="1131093" y="5646738"/>
                <a:chExt cx="157163" cy="174624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1131094" y="5766626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0984"/>
                        <a:pt x="123154" y="54177"/>
                        <a:pt x="81262" y="54719"/>
                      </a:cubicBezTo>
                      <a:lnTo>
                        <a:pt x="78581" y="54736"/>
                      </a:lnTo>
                      <a:cubicBezTo>
                        <a:pt x="35466" y="54736"/>
                        <a:pt x="0" y="41439"/>
                        <a:pt x="0" y="19811"/>
                      </a:cubicBez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131094" y="5714239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1439"/>
                        <a:pt x="121696" y="54736"/>
                        <a:pt x="78581" y="54736"/>
                      </a:cubicBezTo>
                      <a:cubicBezTo>
                        <a:pt x="36689" y="54736"/>
                        <a:pt x="2008" y="42181"/>
                        <a:pt x="183" y="21601"/>
                      </a:cubicBezTo>
                      <a:lnTo>
                        <a:pt x="44" y="20719"/>
                      </a:lnTo>
                      <a:lnTo>
                        <a:pt x="0" y="19811"/>
                      </a:ln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131093" y="5646738"/>
                  <a:ext cx="157163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69850">
                      <a:moveTo>
                        <a:pt x="78582" y="0"/>
                      </a:moveTo>
                      <a:cubicBezTo>
                        <a:pt x="87671" y="0"/>
                        <a:pt x="96429" y="594"/>
                        <a:pt x="104575" y="1729"/>
                      </a:cubicBezTo>
                      <a:lnTo>
                        <a:pt x="108670" y="2349"/>
                      </a:lnTo>
                      <a:cubicBezTo>
                        <a:pt x="113559" y="3164"/>
                        <a:pt x="118175" y="4176"/>
                        <a:pt x="122518" y="5387"/>
                      </a:cubicBezTo>
                      <a:lnTo>
                        <a:pt x="126359" y="6531"/>
                      </a:lnTo>
                      <a:lnTo>
                        <a:pt x="127014" y="6741"/>
                      </a:lnTo>
                      <a:cubicBezTo>
                        <a:pt x="129390" y="7522"/>
                        <a:pt x="131735" y="8396"/>
                        <a:pt x="134043" y="9360"/>
                      </a:cubicBezTo>
                      <a:lnTo>
                        <a:pt x="135780" y="10111"/>
                      </a:lnTo>
                      <a:cubicBezTo>
                        <a:pt x="138894" y="11519"/>
                        <a:pt x="141709" y="13062"/>
                        <a:pt x="144223" y="14738"/>
                      </a:cubicBezTo>
                      <a:cubicBezTo>
                        <a:pt x="145184" y="15379"/>
                        <a:pt x="146095" y="16033"/>
                        <a:pt x="146956" y="16703"/>
                      </a:cubicBezTo>
                      <a:cubicBezTo>
                        <a:pt x="149139" y="18396"/>
                        <a:pt x="151101" y="20356"/>
                        <a:pt x="152798" y="22535"/>
                      </a:cubicBezTo>
                      <a:lnTo>
                        <a:pt x="153592" y="23653"/>
                      </a:lnTo>
                      <a:cubicBezTo>
                        <a:pt x="154000" y="24264"/>
                        <a:pt x="154375" y="24878"/>
                        <a:pt x="154718" y="25495"/>
                      </a:cubicBezTo>
                      <a:lnTo>
                        <a:pt x="155330" y="26709"/>
                      </a:lnTo>
                      <a:cubicBezTo>
                        <a:pt x="156278" y="28746"/>
                        <a:pt x="156861" y="30871"/>
                        <a:pt x="157076" y="33083"/>
                      </a:cubicBezTo>
                      <a:lnTo>
                        <a:pt x="157163" y="34925"/>
                      </a:lnTo>
                      <a:cubicBezTo>
                        <a:pt x="157163" y="56552"/>
                        <a:pt x="121697" y="69850"/>
                        <a:pt x="78582" y="69850"/>
                      </a:cubicBezTo>
                      <a:cubicBezTo>
                        <a:pt x="36689" y="69850"/>
                        <a:pt x="2009" y="57294"/>
                        <a:pt x="184" y="36715"/>
                      </a:cubicBezTo>
                      <a:cubicBezTo>
                        <a:pt x="61" y="36126"/>
                        <a:pt x="0" y="35526"/>
                        <a:pt x="1" y="34925"/>
                      </a:cubicBezTo>
                      <a:lnTo>
                        <a:pt x="44" y="34017"/>
                      </a:lnTo>
                      <a:lnTo>
                        <a:pt x="184" y="33144"/>
                      </a:lnTo>
                      <a:cubicBezTo>
                        <a:pt x="1974" y="13010"/>
                        <a:pt x="35196" y="550"/>
                        <a:pt x="75858" y="17"/>
                      </a:cubicBez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1378268" y="5685949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PostgreSQL 关系数据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3390900" y="5543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B300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71" name="Group 71"/>
              <p:cNvGrpSpPr/>
              <p:nvPr/>
            </p:nvGrpSpPr>
            <p:grpSpPr>
              <a:xfrm>
                <a:off x="3512343" y="5646738"/>
                <a:ext cx="157163" cy="174624"/>
                <a:chOff x="3512343" y="5646738"/>
                <a:chExt cx="157163" cy="174624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3512344" y="5766626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0984"/>
                        <a:pt x="123154" y="54177"/>
                        <a:pt x="81262" y="54719"/>
                      </a:cubicBezTo>
                      <a:lnTo>
                        <a:pt x="78581" y="54736"/>
                      </a:lnTo>
                      <a:cubicBezTo>
                        <a:pt x="35466" y="54736"/>
                        <a:pt x="0" y="41439"/>
                        <a:pt x="0" y="19811"/>
                      </a:cubicBez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3512344" y="5714239"/>
                  <a:ext cx="157162" cy="54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4736">
                      <a:moveTo>
                        <a:pt x="0" y="0"/>
                      </a:moveTo>
                      <a:cubicBezTo>
                        <a:pt x="17183" y="13158"/>
                        <a:pt x="45699" y="19811"/>
                        <a:pt x="78581" y="19811"/>
                      </a:cubicBezTo>
                      <a:cubicBezTo>
                        <a:pt x="111411" y="19811"/>
                        <a:pt x="139918" y="13175"/>
                        <a:pt x="157162" y="148"/>
                      </a:cubicBezTo>
                      <a:lnTo>
                        <a:pt x="157162" y="19811"/>
                      </a:lnTo>
                      <a:cubicBezTo>
                        <a:pt x="157162" y="41439"/>
                        <a:pt x="121696" y="54736"/>
                        <a:pt x="78581" y="54736"/>
                      </a:cubicBezTo>
                      <a:cubicBezTo>
                        <a:pt x="36689" y="54736"/>
                        <a:pt x="2008" y="42181"/>
                        <a:pt x="183" y="21601"/>
                      </a:cubicBezTo>
                      <a:lnTo>
                        <a:pt x="44" y="20719"/>
                      </a:lnTo>
                      <a:lnTo>
                        <a:pt x="0" y="19811"/>
                      </a:ln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3512343" y="5646738"/>
                  <a:ext cx="157163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69850">
                      <a:moveTo>
                        <a:pt x="78582" y="0"/>
                      </a:moveTo>
                      <a:cubicBezTo>
                        <a:pt x="87671" y="0"/>
                        <a:pt x="96429" y="594"/>
                        <a:pt x="104575" y="1729"/>
                      </a:cubicBezTo>
                      <a:lnTo>
                        <a:pt x="108670" y="2349"/>
                      </a:lnTo>
                      <a:cubicBezTo>
                        <a:pt x="113559" y="3164"/>
                        <a:pt x="118175" y="4176"/>
                        <a:pt x="122518" y="5387"/>
                      </a:cubicBezTo>
                      <a:lnTo>
                        <a:pt x="126359" y="6531"/>
                      </a:lnTo>
                      <a:lnTo>
                        <a:pt x="127014" y="6741"/>
                      </a:lnTo>
                      <a:cubicBezTo>
                        <a:pt x="129390" y="7522"/>
                        <a:pt x="131735" y="8396"/>
                        <a:pt x="134043" y="9360"/>
                      </a:cubicBezTo>
                      <a:lnTo>
                        <a:pt x="135780" y="10111"/>
                      </a:lnTo>
                      <a:cubicBezTo>
                        <a:pt x="138894" y="11519"/>
                        <a:pt x="141709" y="13062"/>
                        <a:pt x="144223" y="14738"/>
                      </a:cubicBezTo>
                      <a:cubicBezTo>
                        <a:pt x="145184" y="15379"/>
                        <a:pt x="146095" y="16033"/>
                        <a:pt x="146956" y="16703"/>
                      </a:cubicBezTo>
                      <a:cubicBezTo>
                        <a:pt x="149139" y="18396"/>
                        <a:pt x="151101" y="20356"/>
                        <a:pt x="152798" y="22535"/>
                      </a:cubicBezTo>
                      <a:lnTo>
                        <a:pt x="153592" y="23653"/>
                      </a:lnTo>
                      <a:cubicBezTo>
                        <a:pt x="154000" y="24264"/>
                        <a:pt x="154375" y="24878"/>
                        <a:pt x="154718" y="25495"/>
                      </a:cubicBezTo>
                      <a:lnTo>
                        <a:pt x="155330" y="26709"/>
                      </a:lnTo>
                      <a:cubicBezTo>
                        <a:pt x="156278" y="28746"/>
                        <a:pt x="156861" y="30871"/>
                        <a:pt x="157076" y="33083"/>
                      </a:cubicBezTo>
                      <a:lnTo>
                        <a:pt x="157163" y="34925"/>
                      </a:lnTo>
                      <a:cubicBezTo>
                        <a:pt x="157163" y="56552"/>
                        <a:pt x="121697" y="69850"/>
                        <a:pt x="78582" y="69850"/>
                      </a:cubicBezTo>
                      <a:cubicBezTo>
                        <a:pt x="36689" y="69850"/>
                        <a:pt x="2009" y="57294"/>
                        <a:pt x="184" y="36715"/>
                      </a:cubicBezTo>
                      <a:cubicBezTo>
                        <a:pt x="61" y="36126"/>
                        <a:pt x="0" y="35526"/>
                        <a:pt x="1" y="34925"/>
                      </a:cubicBezTo>
                      <a:lnTo>
                        <a:pt x="44" y="34017"/>
                      </a:lnTo>
                      <a:lnTo>
                        <a:pt x="184" y="33144"/>
                      </a:lnTo>
                      <a:cubicBezTo>
                        <a:pt x="1974" y="13010"/>
                        <a:pt x="35196" y="550"/>
                        <a:pt x="75858" y="17"/>
                      </a:cubicBez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3759518" y="5685949"/>
                <a:ext cx="13255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pgvector 向量索引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5772150" y="5543550"/>
                <a:ext cx="22860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FFB300">
                  <a:alpha val="10000"/>
                </a:srgbClr>
              </a:solidFill>
              <a:ln>
                <a:noFill/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5902324" y="5646738"/>
                <a:ext cx="139702" cy="174626"/>
                <a:chOff x="5902324" y="5646738"/>
                <a:chExt cx="139702" cy="174626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5902324" y="5646738"/>
                  <a:ext cx="139702" cy="174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2" h="174626">
                      <a:moveTo>
                        <a:pt x="69851" y="0"/>
                      </a:moveTo>
                      <a:lnTo>
                        <a:pt x="70872" y="61"/>
                      </a:lnTo>
                      <a:cubicBezTo>
                        <a:pt x="74884" y="534"/>
                        <a:pt x="78048" y="3698"/>
                        <a:pt x="78521" y="7710"/>
                      </a:cubicBezTo>
                      <a:lnTo>
                        <a:pt x="78582" y="8731"/>
                      </a:lnTo>
                      <a:lnTo>
                        <a:pt x="78582" y="43656"/>
                      </a:lnTo>
                      <a:lnTo>
                        <a:pt x="78626" y="44966"/>
                      </a:lnTo>
                      <a:cubicBezTo>
                        <a:pt x="79271" y="53557"/>
                        <a:pt x="86085" y="60393"/>
                        <a:pt x="94674" y="61066"/>
                      </a:cubicBezTo>
                      <a:lnTo>
                        <a:pt x="96045" y="61119"/>
                      </a:lnTo>
                      <a:lnTo>
                        <a:pt x="130970" y="61119"/>
                      </a:lnTo>
                      <a:lnTo>
                        <a:pt x="131991" y="61180"/>
                      </a:lnTo>
                      <a:cubicBezTo>
                        <a:pt x="136003" y="61653"/>
                        <a:pt x="139167" y="64817"/>
                        <a:pt x="139640" y="68828"/>
                      </a:cubicBezTo>
                      <a:lnTo>
                        <a:pt x="139701" y="69850"/>
                      </a:lnTo>
                      <a:lnTo>
                        <a:pt x="139701" y="148431"/>
                      </a:lnTo>
                      <a:cubicBezTo>
                        <a:pt x="139702" y="162301"/>
                        <a:pt x="128890" y="173768"/>
                        <a:pt x="115044" y="174581"/>
                      </a:cubicBezTo>
                      <a:lnTo>
                        <a:pt x="113507" y="174625"/>
                      </a:lnTo>
                      <a:lnTo>
                        <a:pt x="26195" y="174625"/>
                      </a:lnTo>
                      <a:cubicBezTo>
                        <a:pt x="12324" y="174626"/>
                        <a:pt x="858" y="163814"/>
                        <a:pt x="44" y="149968"/>
                      </a:cubicBezTo>
                      <a:lnTo>
                        <a:pt x="1" y="148431"/>
                      </a:lnTo>
                      <a:lnTo>
                        <a:pt x="1" y="26194"/>
                      </a:lnTo>
                      <a:cubicBezTo>
                        <a:pt x="0" y="12324"/>
                        <a:pt x="10812" y="857"/>
                        <a:pt x="24658" y="44"/>
                      </a:cubicBezTo>
                      <a:lnTo>
                        <a:pt x="26195" y="0"/>
                      </a:lnTo>
                      <a:close/>
                      <a:moveTo>
                        <a:pt x="56291" y="96969"/>
                      </a:moveTo>
                      <a:cubicBezTo>
                        <a:pt x="51980" y="94816"/>
                        <a:pt x="46740" y="96563"/>
                        <a:pt x="44583" y="100872"/>
                      </a:cubicBezTo>
                      <a:lnTo>
                        <a:pt x="35851" y="118335"/>
                      </a:lnTo>
                      <a:cubicBezTo>
                        <a:pt x="34623" y="120792"/>
                        <a:pt x="34623" y="123683"/>
                        <a:pt x="35851" y="126140"/>
                      </a:cubicBezTo>
                      <a:lnTo>
                        <a:pt x="44583" y="143603"/>
                      </a:lnTo>
                      <a:cubicBezTo>
                        <a:pt x="46740" y="147912"/>
                        <a:pt x="51980" y="149659"/>
                        <a:pt x="56291" y="147506"/>
                      </a:cubicBezTo>
                      <a:lnTo>
                        <a:pt x="57182" y="146999"/>
                      </a:lnTo>
                      <a:cubicBezTo>
                        <a:pt x="60880" y="144568"/>
                        <a:pt x="62174" y="139755"/>
                        <a:pt x="60194" y="135797"/>
                      </a:cubicBezTo>
                      <a:lnTo>
                        <a:pt x="53419" y="122237"/>
                      </a:lnTo>
                      <a:lnTo>
                        <a:pt x="60194" y="108678"/>
                      </a:lnTo>
                      <a:cubicBezTo>
                        <a:pt x="62347" y="104367"/>
                        <a:pt x="60600" y="99126"/>
                        <a:pt x="56291" y="96969"/>
                      </a:cubicBezTo>
                      <a:moveTo>
                        <a:pt x="95119" y="100872"/>
                      </a:moveTo>
                      <a:cubicBezTo>
                        <a:pt x="92962" y="96563"/>
                        <a:pt x="87722" y="94816"/>
                        <a:pt x="83410" y="96969"/>
                      </a:cubicBezTo>
                      <a:lnTo>
                        <a:pt x="82520" y="97476"/>
                      </a:lnTo>
                      <a:cubicBezTo>
                        <a:pt x="78822" y="99907"/>
                        <a:pt x="77528" y="104720"/>
                        <a:pt x="79508" y="108678"/>
                      </a:cubicBezTo>
                      <a:lnTo>
                        <a:pt x="86266" y="122237"/>
                      </a:lnTo>
                      <a:lnTo>
                        <a:pt x="79499" y="135797"/>
                      </a:lnTo>
                      <a:cubicBezTo>
                        <a:pt x="77521" y="140079"/>
                        <a:pt x="79301" y="145159"/>
                        <a:pt x="83520" y="147268"/>
                      </a:cubicBezTo>
                      <a:cubicBezTo>
                        <a:pt x="87740" y="149378"/>
                        <a:pt x="92871" y="147755"/>
                        <a:pt x="95110" y="143603"/>
                      </a:cubicBezTo>
                      <a:lnTo>
                        <a:pt x="103842" y="126140"/>
                      </a:lnTo>
                      <a:cubicBezTo>
                        <a:pt x="105069" y="123683"/>
                        <a:pt x="105069" y="120792"/>
                        <a:pt x="103842" y="118335"/>
                      </a:cubicBez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5998360" y="5655460"/>
                  <a:ext cx="34934" cy="34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34" h="34934">
                      <a:moveTo>
                        <a:pt x="34934" y="34934"/>
                      </a:moveTo>
                      <a:lnTo>
                        <a:pt x="9" y="349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77B00"/>
                </a:solidFill>
                <a:ln>
                  <a:noFill/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6140768" y="5685949"/>
                <a:ext cx="10713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本地附件与日志</a:t>
                </a:r>
                <a:endParaRPr lang="zh-CN" sz="975" b="1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8763000" y="1809750"/>
            <a:ext cx="2667000" cy="4419600"/>
            <a:chOff x="8763000" y="1809750"/>
            <a:chExt cx="2667000" cy="4419600"/>
          </a:xfrm>
        </p:grpSpPr>
        <p:sp>
          <p:nvSpPr>
            <p:cNvPr id="80" name="Rectangle 80"/>
            <p:cNvSpPr/>
            <p:nvPr/>
          </p:nvSpPr>
          <p:spPr>
            <a:xfrm>
              <a:off x="8763000" y="1809750"/>
              <a:ext cx="2667000" cy="4191000"/>
            </a:xfrm>
            <a:prstGeom prst="roundRect">
              <a:avLst>
                <a:gd name="adj" fmla="val 4286"/>
              </a:avLst>
            </a:prstGeom>
            <a:solidFill>
              <a:srgbClr val="0F2E52"/>
            </a:solidFill>
            <a:ln>
              <a:noFill/>
            </a:ln>
          </p:spPr>
        </p:sp>
        <p:pic>
          <p:nvPicPr>
            <p:cNvPr id="81" name="Image 81"/>
            <p:cNvPicPr>
              <a:picLocks noChangeAspect="1"/>
            </p:cNvPicPr>
            <p:nvPr/>
          </p:nvPicPr>
          <p:blipFill>
            <a:blip r:embed="rId1"/>
            <a:srcRect l="17942" r="17942"/>
            <a:stretch>
              <a:fillRect/>
            </a:stretch>
          </p:blipFill>
          <p:spPr>
            <a:xfrm>
              <a:off x="8763000" y="1809750"/>
              <a:ext cx="2667000" cy="2762250"/>
            </a:xfrm>
            <a:prstGeom prst="roundRect">
              <a:avLst>
                <a:gd name="adj" fmla="val 4285"/>
              </a:avLst>
            </a:prstGeom>
          </p:spPr>
        </p:pic>
        <p:sp>
          <p:nvSpPr>
            <p:cNvPr id="82" name="Rectangle 82"/>
            <p:cNvSpPr/>
            <p:nvPr/>
          </p:nvSpPr>
          <p:spPr>
            <a:xfrm>
              <a:off x="8763000" y="4286250"/>
              <a:ext cx="2667000" cy="285750"/>
            </a:xfrm>
            <a:prstGeom prst="rect">
              <a:avLst/>
            </a:prstGeom>
            <a:solidFill>
              <a:srgbClr val="0F2E52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763000" y="1809750"/>
              <a:ext cx="2667000" cy="2762250"/>
            </a:xfrm>
            <a:prstGeom prst="rect">
              <a:avLst/>
            </a:prstGeom>
            <a:solidFill>
              <a:srgbClr val="0F2E52">
                <a:alpha val="18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763000" y="1809750"/>
              <a:ext cx="2667000" cy="2762250"/>
            </a:xfrm>
            <a:prstGeom prst="rect">
              <a:avLst/>
            </a:prstGeom>
            <a:noFill/>
            <a:ln w="19050">
              <a:solidFill>
                <a:srgbClr val="1565C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40165" y="4744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部署形态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942070" y="498919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Docker Compose 单机一键启动</a:t>
              </a:r>
              <a:endParaRPr lang="zh-CN" sz="900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Line 87"/>
            <p:cNvSpPr/>
            <p:nvPr/>
          </p:nvSpPr>
          <p:spPr>
            <a:xfrm>
              <a:off x="8953500" y="52768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9020175" y="5476875"/>
              <a:ext cx="57150" cy="57150"/>
            </a:xfrm>
            <a:prstGeom prst="ellipse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151620" y="544639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backend · frontend · postgres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0" name="Ellipse 90"/>
            <p:cNvSpPr/>
            <p:nvPr/>
          </p:nvSpPr>
          <p:spPr>
            <a:xfrm>
              <a:off x="9020175" y="5686425"/>
              <a:ext cx="57150" cy="57150"/>
            </a:xfrm>
            <a:prstGeom prst="ellipse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151620" y="5655945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独立网络 · 卷映射 · 健康检查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2" name="Ellipse 92"/>
            <p:cNvSpPr/>
            <p:nvPr/>
          </p:nvSpPr>
          <p:spPr>
            <a:xfrm>
              <a:off x="9020175" y="5895975"/>
              <a:ext cx="57150" cy="57150"/>
            </a:xfrm>
            <a:prstGeom prst="ellipse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151620" y="586549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可平滑迁移到 K8s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45880" y="6107430"/>
              <a:ext cx="2052638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FFFF">
                      <a:alphaMod val="5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photo: BalticServers / Wikimedia · CC BY-SA 3.0</a:t>
              </a:r>
              <a:endParaRPr lang="zh-CN" sz="600" dirty="0">
                <a:solidFill>
                  <a:srgbClr val="FFFFFF">
                    <a:alphaMod val="5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4629150" y="2952750"/>
            <a:ext cx="76200" cy="1924050"/>
            <a:chOff x="4629150" y="2952750"/>
            <a:chExt cx="76200" cy="1924050"/>
          </a:xfrm>
        </p:grpSpPr>
        <p:sp>
          <p:nvSpPr>
            <p:cNvPr id="96" name="Line 96"/>
            <p:cNvSpPr/>
            <p:nvPr/>
          </p:nvSpPr>
          <p:spPr>
            <a:xfrm>
              <a:off x="4667250" y="2952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97" name="Polygon 97"/>
            <p:cNvSpPr/>
            <p:nvPr/>
          </p:nvSpPr>
          <p:spPr>
            <a:xfrm>
              <a:off x="4629150" y="3095625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0" y="0"/>
                  </a:moveTo>
                  <a:lnTo>
                    <a:pt x="76200" y="0"/>
                  </a:lnTo>
                  <a:lnTo>
                    <a:pt x="38100" y="66675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98" name="Line 98"/>
            <p:cNvSpPr/>
            <p:nvPr/>
          </p:nvSpPr>
          <p:spPr>
            <a:xfrm>
              <a:off x="4667250" y="4667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99" name="Polygon 99"/>
            <p:cNvSpPr/>
            <p:nvPr/>
          </p:nvSpPr>
          <p:spPr>
            <a:xfrm>
              <a:off x="4629150" y="4810125"/>
              <a:ext cx="76200" cy="66675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0" y="0"/>
                  </a:moveTo>
                  <a:lnTo>
                    <a:pt x="76200" y="0"/>
                  </a:lnTo>
                  <a:lnTo>
                    <a:pt x="38100" y="66675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3" grpId="0"/>
      <p:bldP spid="79" grpId="0"/>
      <p:bldP spid="95" grpId="0"/>
      <p:bldP spid="10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-381000" y="190500"/>
            <a:ext cx="13144500" cy="6667500"/>
            <a:chOff x="-381000" y="190500"/>
            <a:chExt cx="13144500" cy="6667500"/>
          </a:xfrm>
        </p:grpSpPr>
        <p:sp>
          <p:nvSpPr>
            <p:cNvPr id="3" name="Ellipse 3"/>
            <p:cNvSpPr/>
            <p:nvPr/>
          </p:nvSpPr>
          <p:spPr>
            <a:xfrm>
              <a:off x="10858500" y="190500"/>
              <a:ext cx="1905000" cy="190500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381000" y="5334000"/>
              <a:ext cx="1524000" cy="1524000"/>
            </a:xfrm>
            <a:prstGeom prst="ellipse">
              <a:avLst/>
            </a:prstGeom>
            <a:solidFill>
              <a:srgbClr val="FFB300">
                <a:alpha val="5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2000" y="495300"/>
            <a:ext cx="2061210" cy="495300"/>
            <a:chOff x="762000" y="495300"/>
            <a:chExt cx="2061210" cy="4953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模块化设计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1857375"/>
            <a:ext cx="10668000" cy="4381500"/>
            <a:chOff x="762000" y="1857375"/>
            <a:chExt cx="10668000" cy="4381500"/>
          </a:xfrm>
        </p:grpSpPr>
        <p:sp>
          <p:nvSpPr>
            <p:cNvPr id="15" name="Rectangle 15"/>
            <p:cNvSpPr/>
            <p:nvPr/>
          </p:nvSpPr>
          <p:spPr>
            <a:xfrm>
              <a:off x="762000" y="1857375"/>
              <a:ext cx="10668000" cy="4381500"/>
            </a:xfrm>
            <a:prstGeom prst="roundRect">
              <a:avLst>
                <a:gd name="adj" fmla="val 3043"/>
              </a:avLst>
            </a:prstGeom>
            <a:solidFill>
              <a:srgbClr val="FFFFFF"/>
            </a:solidFill>
            <a:ln w="9525">
              <a:solidFill>
                <a:srgbClr val="E2E6E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857375"/>
              <a:ext cx="10668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143125"/>
              <a:ext cx="2667000" cy="285750"/>
            </a:xfrm>
            <a:prstGeom prst="rect">
              <a:avLst/>
            </a:prstGeom>
            <a:solidFill>
              <a:srgbClr val="0F2E5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165" y="22298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backend/app/</a:t>
              </a:r>
              <a:endParaRPr lang="zh-CN" sz="10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Polygon 19"/>
            <p:cNvSpPr/>
            <p:nvPr/>
          </p:nvSpPr>
          <p:spPr>
            <a:xfrm>
              <a:off x="3429000" y="2143125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19050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0F2E5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49040" y="22298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后端核心模块 · 4 大组件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09650" y="2667000"/>
            <a:ext cx="10229850" cy="3333750"/>
            <a:chOff x="1009650" y="2667000"/>
            <a:chExt cx="10229850" cy="3333750"/>
          </a:xfrm>
        </p:grpSpPr>
        <p:grpSp>
          <p:nvGrpSpPr>
            <p:cNvPr id="45" name="Group 45"/>
            <p:cNvGrpSpPr/>
            <p:nvPr/>
          </p:nvGrpSpPr>
          <p:grpSpPr>
            <a:xfrm>
              <a:off x="1009650" y="2667000"/>
              <a:ext cx="2495550" cy="3333750"/>
              <a:chOff x="1009650" y="2667000"/>
              <a:chExt cx="2495550" cy="3333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09650" y="2667000"/>
                <a:ext cx="2495550" cy="3333750"/>
              </a:xfrm>
              <a:prstGeom prst="roundRect">
                <a:avLst>
                  <a:gd name="adj" fmla="val 4580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009650" y="2667000"/>
                <a:ext cx="24955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143000" y="2838450"/>
                <a:ext cx="5715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96870" y="2892266"/>
                <a:ext cx="46376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ROUTER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118233" y="2852738"/>
                <a:ext cx="202803" cy="200410"/>
              </a:xfrm>
              <a:custGeom>
                <a:avLst/>
                <a:gdLst/>
                <a:ahLst/>
                <a:cxnLst/>
                <a:rect l="l" t="t" r="r" b="b"/>
                <a:pathLst>
                  <a:path w="202803" h="200410">
                    <a:moveTo>
                      <a:pt x="200052" y="139495"/>
                    </a:moveTo>
                    <a:cubicBezTo>
                      <a:pt x="202792" y="144982"/>
                      <a:pt x="200569" y="151652"/>
                      <a:pt x="195084" y="154397"/>
                    </a:cubicBezTo>
                    <a:lnTo>
                      <a:pt x="106184" y="198847"/>
                    </a:lnTo>
                    <a:cubicBezTo>
                      <a:pt x="103057" y="200410"/>
                      <a:pt x="99377" y="200410"/>
                      <a:pt x="96250" y="198847"/>
                    </a:cubicBezTo>
                    <a:lnTo>
                      <a:pt x="7350" y="154397"/>
                    </a:lnTo>
                    <a:cubicBezTo>
                      <a:pt x="2066" y="151548"/>
                      <a:pt x="0" y="145016"/>
                      <a:pt x="2685" y="139646"/>
                    </a:cubicBezTo>
                    <a:cubicBezTo>
                      <a:pt x="5370" y="134277"/>
                      <a:pt x="11834" y="132010"/>
                      <a:pt x="17284" y="134528"/>
                    </a:cubicBezTo>
                    <a:lnTo>
                      <a:pt x="101217" y="176466"/>
                    </a:lnTo>
                    <a:lnTo>
                      <a:pt x="185161" y="134517"/>
                    </a:lnTo>
                    <a:cubicBezTo>
                      <a:pt x="190648" y="131777"/>
                      <a:pt x="197317" y="134000"/>
                      <a:pt x="200063" y="139484"/>
                    </a:cubicBezTo>
                    <a:moveTo>
                      <a:pt x="200063" y="95034"/>
                    </a:moveTo>
                    <a:cubicBezTo>
                      <a:pt x="202803" y="100521"/>
                      <a:pt x="200580" y="107191"/>
                      <a:pt x="195095" y="109936"/>
                    </a:cubicBezTo>
                    <a:lnTo>
                      <a:pt x="106195" y="154386"/>
                    </a:lnTo>
                    <a:cubicBezTo>
                      <a:pt x="103068" y="155949"/>
                      <a:pt x="99388" y="155949"/>
                      <a:pt x="96261" y="154386"/>
                    </a:cubicBezTo>
                    <a:lnTo>
                      <a:pt x="7361" y="109936"/>
                    </a:lnTo>
                    <a:cubicBezTo>
                      <a:pt x="2077" y="107086"/>
                      <a:pt x="11" y="100555"/>
                      <a:pt x="2696" y="95185"/>
                    </a:cubicBezTo>
                    <a:cubicBezTo>
                      <a:pt x="5381" y="89816"/>
                      <a:pt x="11845" y="87549"/>
                      <a:pt x="17295" y="90067"/>
                    </a:cubicBezTo>
                    <a:lnTo>
                      <a:pt x="101217" y="132017"/>
                    </a:lnTo>
                    <a:lnTo>
                      <a:pt x="185161" y="90067"/>
                    </a:lnTo>
                    <a:cubicBezTo>
                      <a:pt x="190648" y="87327"/>
                      <a:pt x="197317" y="89550"/>
                      <a:pt x="200063" y="95034"/>
                    </a:cubicBezTo>
                    <a:moveTo>
                      <a:pt x="101306" y="0"/>
                    </a:moveTo>
                    <a:cubicBezTo>
                      <a:pt x="101721" y="0"/>
                      <a:pt x="102132" y="26"/>
                      <a:pt x="102539" y="78"/>
                    </a:cubicBezTo>
                    <a:lnTo>
                      <a:pt x="103773" y="300"/>
                    </a:lnTo>
                    <a:lnTo>
                      <a:pt x="104729" y="567"/>
                    </a:lnTo>
                    <a:lnTo>
                      <a:pt x="104862" y="633"/>
                    </a:lnTo>
                    <a:lnTo>
                      <a:pt x="104995" y="656"/>
                    </a:lnTo>
                    <a:lnTo>
                      <a:pt x="105318" y="811"/>
                    </a:lnTo>
                    <a:lnTo>
                      <a:pt x="105873" y="1022"/>
                    </a:lnTo>
                    <a:lnTo>
                      <a:pt x="106051" y="1122"/>
                    </a:lnTo>
                    <a:lnTo>
                      <a:pt x="106184" y="1178"/>
                    </a:lnTo>
                    <a:lnTo>
                      <a:pt x="195084" y="45628"/>
                    </a:lnTo>
                    <a:cubicBezTo>
                      <a:pt x="198844" y="47512"/>
                      <a:pt x="201218" y="51357"/>
                      <a:pt x="201218" y="55562"/>
                    </a:cubicBezTo>
                    <a:cubicBezTo>
                      <a:pt x="201218" y="59768"/>
                      <a:pt x="198844" y="63613"/>
                      <a:pt x="195084" y="65497"/>
                    </a:cubicBezTo>
                    <a:lnTo>
                      <a:pt x="106184" y="109947"/>
                    </a:lnTo>
                    <a:cubicBezTo>
                      <a:pt x="103057" y="111510"/>
                      <a:pt x="99377" y="111510"/>
                      <a:pt x="96250" y="109947"/>
                    </a:cubicBezTo>
                    <a:lnTo>
                      <a:pt x="7350" y="65497"/>
                    </a:lnTo>
                    <a:cubicBezTo>
                      <a:pt x="3590" y="63613"/>
                      <a:pt x="1216" y="59768"/>
                      <a:pt x="1216" y="55562"/>
                    </a:cubicBezTo>
                    <a:cubicBezTo>
                      <a:pt x="1216" y="51357"/>
                      <a:pt x="3590" y="47512"/>
                      <a:pt x="7350" y="45628"/>
                    </a:cubicBezTo>
                    <a:lnTo>
                      <a:pt x="96250" y="1178"/>
                    </a:lnTo>
                    <a:lnTo>
                      <a:pt x="96372" y="1122"/>
                    </a:lnTo>
                    <a:lnTo>
                      <a:pt x="96572" y="1011"/>
                    </a:lnTo>
                    <a:lnTo>
                      <a:pt x="97439" y="656"/>
                    </a:lnTo>
                    <a:lnTo>
                      <a:pt x="97561" y="633"/>
                    </a:lnTo>
                    <a:lnTo>
                      <a:pt x="97705" y="567"/>
                    </a:lnTo>
                    <a:lnTo>
                      <a:pt x="98661" y="300"/>
                    </a:lnTo>
                    <a:lnTo>
                      <a:pt x="99884" y="78"/>
                    </a:lnTo>
                    <a:lnTo>
                      <a:pt x="100506" y="2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29665" y="3220402"/>
                <a:ext cx="9605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api/routes/</a:t>
                </a:r>
                <a:endParaRPr lang="zh-CN" sz="1050" b="1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31570" y="3427095"/>
                <a:ext cx="9298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FastAPI 路由层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1143000" y="3657600"/>
                <a:ext cx="222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8850" h="9525">
                    <a:moveTo>
                      <a:pt x="0" y="0"/>
                    </a:moveTo>
                    <a:lnTo>
                      <a:pt x="222885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32522" y="379714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职责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30618" y="399049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注册路由 · 参数校验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0618" y="4200049"/>
                <a:ext cx="10429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鉴权 · 依赖注入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32522" y="45400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核心文件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143000" y="4705350"/>
                <a:ext cx="222885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26820" y="4798695"/>
                <a:ext cx="528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565C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auth.py</a:t>
                </a:r>
                <a:endParaRPr lang="zh-CN" sz="900" dirty="0">
                  <a:solidFill>
                    <a:srgbClr val="1565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085022" y="4806791"/>
                <a:ext cx="5691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登录/令牌</a:t>
                </a:r>
                <a:endParaRPr lang="zh-CN" sz="82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226820" y="4989195"/>
                <a:ext cx="8575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565C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questions.py</a:t>
                </a:r>
                <a:endParaRPr lang="zh-CN" sz="900" dirty="0">
                  <a:solidFill>
                    <a:srgbClr val="1565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85022" y="4997291"/>
                <a:ext cx="56316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题库 CRUD</a:t>
                </a:r>
                <a:endParaRPr lang="zh-CN" sz="82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26820" y="5179695"/>
                <a:ext cx="9232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565C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interviews.py</a:t>
                </a:r>
                <a:endParaRPr lang="zh-CN" sz="900" dirty="0">
                  <a:solidFill>
                    <a:srgbClr val="1565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085022" y="5187791"/>
                <a:ext cx="4667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会话 API</a:t>
                </a:r>
                <a:endParaRPr lang="zh-CN" sz="82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27772" y="5359241"/>
                <a:ext cx="4185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565C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rag.py</a:t>
                </a:r>
                <a:endParaRPr lang="zh-CN" sz="825" dirty="0">
                  <a:solidFill>
                    <a:srgbClr val="1565C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085022" y="535924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检索调用</a:t>
                </a:r>
                <a:endParaRPr lang="zh-CN" sz="82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43000" y="5600700"/>
                <a:ext cx="222885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27772" y="5683091"/>
                <a:ext cx="12559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router = APIRouter()</a:t>
                </a:r>
                <a:endParaRPr lang="zh-CN" sz="825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3657600" y="2667000"/>
              <a:ext cx="2495550" cy="3333750"/>
              <a:chOff x="3657600" y="2667000"/>
              <a:chExt cx="2495550" cy="3333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657600" y="2667000"/>
                <a:ext cx="2495550" cy="3333750"/>
              </a:xfrm>
              <a:prstGeom prst="roundRect">
                <a:avLst>
                  <a:gd name="adj" fmla="val 4580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657600" y="2667000"/>
                <a:ext cx="24955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790950" y="2838450"/>
                <a:ext cx="7620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851509" y="2892266"/>
                <a:ext cx="6408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EMBEDDING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52" name="Group 52"/>
              <p:cNvGrpSpPr/>
              <p:nvPr/>
            </p:nvGrpSpPr>
            <p:grpSpPr>
              <a:xfrm>
                <a:off x="5766072" y="2851396"/>
                <a:ext cx="202424" cy="190254"/>
                <a:chOff x="5766072" y="2851396"/>
                <a:chExt cx="202424" cy="190254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5767388" y="2918029"/>
                  <a:ext cx="200025" cy="123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23621">
                      <a:moveTo>
                        <a:pt x="135795" y="5551"/>
                      </a:moveTo>
                      <a:cubicBezTo>
                        <a:pt x="139589" y="816"/>
                        <a:pt x="146479" y="0"/>
                        <a:pt x="151274" y="3717"/>
                      </a:cubicBezTo>
                      <a:lnTo>
                        <a:pt x="152319" y="4639"/>
                      </a:lnTo>
                      <a:lnTo>
                        <a:pt x="196769" y="49089"/>
                      </a:lnTo>
                      <a:cubicBezTo>
                        <a:pt x="198496" y="50818"/>
                        <a:pt x="199605" y="53068"/>
                        <a:pt x="199925" y="55490"/>
                      </a:cubicBezTo>
                      <a:lnTo>
                        <a:pt x="200025" y="56946"/>
                      </a:lnTo>
                      <a:lnTo>
                        <a:pt x="200025" y="112509"/>
                      </a:lnTo>
                      <a:cubicBezTo>
                        <a:pt x="200024" y="118142"/>
                        <a:pt x="195808" y="122884"/>
                        <a:pt x="190213" y="123543"/>
                      </a:cubicBezTo>
                      <a:lnTo>
                        <a:pt x="188913" y="123621"/>
                      </a:lnTo>
                      <a:lnTo>
                        <a:pt x="10868" y="123621"/>
                      </a:lnTo>
                      <a:lnTo>
                        <a:pt x="9646" y="123521"/>
                      </a:lnTo>
                      <a:lnTo>
                        <a:pt x="8423" y="123299"/>
                      </a:lnTo>
                      <a:lnTo>
                        <a:pt x="7234" y="122921"/>
                      </a:lnTo>
                      <a:lnTo>
                        <a:pt x="6067" y="122410"/>
                      </a:lnTo>
                      <a:lnTo>
                        <a:pt x="4956" y="121754"/>
                      </a:lnTo>
                      <a:lnTo>
                        <a:pt x="3912" y="120976"/>
                      </a:lnTo>
                      <a:lnTo>
                        <a:pt x="3245" y="120365"/>
                      </a:lnTo>
                      <a:lnTo>
                        <a:pt x="2445" y="119454"/>
                      </a:lnTo>
                      <a:lnTo>
                        <a:pt x="1734" y="118465"/>
                      </a:lnTo>
                      <a:lnTo>
                        <a:pt x="1133" y="117398"/>
                      </a:lnTo>
                      <a:lnTo>
                        <a:pt x="956" y="117009"/>
                      </a:lnTo>
                      <a:lnTo>
                        <a:pt x="511" y="115864"/>
                      </a:lnTo>
                      <a:lnTo>
                        <a:pt x="211" y="114687"/>
                      </a:lnTo>
                      <a:lnTo>
                        <a:pt x="44" y="113486"/>
                      </a:lnTo>
                      <a:lnTo>
                        <a:pt x="0" y="112264"/>
                      </a:lnTo>
                      <a:lnTo>
                        <a:pt x="100" y="111042"/>
                      </a:lnTo>
                      <a:lnTo>
                        <a:pt x="311" y="109875"/>
                      </a:lnTo>
                      <a:cubicBezTo>
                        <a:pt x="422" y="109430"/>
                        <a:pt x="556" y="109019"/>
                        <a:pt x="700" y="108630"/>
                      </a:cubicBezTo>
                      <a:lnTo>
                        <a:pt x="1211" y="107463"/>
                      </a:lnTo>
                      <a:lnTo>
                        <a:pt x="1867" y="106352"/>
                      </a:lnTo>
                      <a:lnTo>
                        <a:pt x="46317" y="39677"/>
                      </a:lnTo>
                      <a:cubicBezTo>
                        <a:pt x="49132" y="35440"/>
                        <a:pt x="54464" y="33654"/>
                        <a:pt x="59263" y="35343"/>
                      </a:cubicBezTo>
                      <a:lnTo>
                        <a:pt x="60530" y="35899"/>
                      </a:lnTo>
                      <a:lnTo>
                        <a:pt x="96945" y="54101"/>
                      </a:lnTo>
                      <a:lnTo>
                        <a:pt x="135784" y="5551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5766072" y="2851396"/>
                  <a:ext cx="202424" cy="113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24" h="113782">
                      <a:moveTo>
                        <a:pt x="137243" y="5342"/>
                      </a:moveTo>
                      <a:cubicBezTo>
                        <a:pt x="141076" y="737"/>
                        <a:pt x="147869" y="0"/>
                        <a:pt x="152601" y="3675"/>
                      </a:cubicBezTo>
                      <a:lnTo>
                        <a:pt x="153634" y="4597"/>
                      </a:lnTo>
                      <a:lnTo>
                        <a:pt x="198084" y="49047"/>
                      </a:lnTo>
                      <a:cubicBezTo>
                        <a:pt x="202221" y="53198"/>
                        <a:pt x="202424" y="59846"/>
                        <a:pt x="198548" y="64241"/>
                      </a:cubicBezTo>
                      <a:cubicBezTo>
                        <a:pt x="194673" y="68636"/>
                        <a:pt x="188051" y="69267"/>
                        <a:pt x="183416" y="65683"/>
                      </a:cubicBezTo>
                      <a:lnTo>
                        <a:pt x="182371" y="64760"/>
                      </a:lnTo>
                      <a:lnTo>
                        <a:pt x="146522" y="28923"/>
                      </a:lnTo>
                      <a:lnTo>
                        <a:pt x="98750" y="86241"/>
                      </a:lnTo>
                      <a:cubicBezTo>
                        <a:pt x="95778" y="89806"/>
                        <a:pt x="90904" y="91148"/>
                        <a:pt x="86526" y="89608"/>
                      </a:cubicBezTo>
                      <a:lnTo>
                        <a:pt x="85248" y="89064"/>
                      </a:lnTo>
                      <a:lnTo>
                        <a:pt x="49088" y="70995"/>
                      </a:lnTo>
                      <a:lnTo>
                        <a:pt x="21318" y="108021"/>
                      </a:lnTo>
                      <a:cubicBezTo>
                        <a:pt x="17959" y="112501"/>
                        <a:pt x="11792" y="113782"/>
                        <a:pt x="6927" y="111011"/>
                      </a:cubicBezTo>
                      <a:lnTo>
                        <a:pt x="5760" y="110244"/>
                      </a:lnTo>
                      <a:cubicBezTo>
                        <a:pt x="1281" y="106885"/>
                        <a:pt x="0" y="100718"/>
                        <a:pt x="2771" y="95853"/>
                      </a:cubicBezTo>
                      <a:lnTo>
                        <a:pt x="3538" y="94686"/>
                      </a:lnTo>
                      <a:lnTo>
                        <a:pt x="36875" y="50236"/>
                      </a:lnTo>
                      <a:cubicBezTo>
                        <a:pt x="39801" y="46340"/>
                        <a:pt x="44923" y="44804"/>
                        <a:pt x="49510" y="46447"/>
                      </a:cubicBezTo>
                      <a:lnTo>
                        <a:pt x="50733" y="46969"/>
                      </a:lnTo>
                      <a:lnTo>
                        <a:pt x="87304" y="65249"/>
                      </a:lnTo>
                      <a:lnTo>
                        <a:pt x="137243" y="5342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3777615" y="3220402"/>
                <a:ext cx="17495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embedding_service.py</a:t>
                </a:r>
                <a:endParaRPr lang="zh-CN" sz="1050" b="1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779520" y="342709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文本 → 向量编码服务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3790950" y="3657600"/>
                <a:ext cx="222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8850" h="9525">
                    <a:moveTo>
                      <a:pt x="0" y="0"/>
                    </a:moveTo>
                    <a:lnTo>
                      <a:pt x="222885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3780472" y="379714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职责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778568" y="3990499"/>
                <a:ext cx="13775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封装 embedding 调用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778568" y="420004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批量编码 + 本地缓存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780472" y="45400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核心签名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3790950" y="4705350"/>
                <a:ext cx="222885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3875722" y="4806791"/>
                <a:ext cx="11174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def encode(texts: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875722" y="4959191"/>
                <a:ext cx="12921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list[str]) -&gt; ndarray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875722" y="5168741"/>
                <a:ext cx="145480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def cache_key(t) -&gt; str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875722" y="5321141"/>
                <a:ext cx="11595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provider: pluggable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3790950" y="5600700"/>
                <a:ext cx="222885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3875722" y="5683091"/>
                <a:ext cx="20452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支持替换 SentenceTransformers 等</a:t>
                </a:r>
                <a:endParaRPr lang="zh-CN" sz="825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6305550" y="2667000"/>
              <a:ext cx="2495550" cy="3333750"/>
              <a:chOff x="6305550" y="2667000"/>
              <a:chExt cx="2495550" cy="33337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305550" y="2667000"/>
                <a:ext cx="2495550" cy="3333750"/>
              </a:xfrm>
              <a:prstGeom prst="roundRect">
                <a:avLst>
                  <a:gd name="adj" fmla="val 4580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6305550" y="2667000"/>
                <a:ext cx="24955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438900" y="2838450"/>
                <a:ext cx="5715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527562" y="2892266"/>
                <a:ext cx="39417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STORE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8415337" y="2841625"/>
                <a:ext cx="200026" cy="222250"/>
                <a:chOff x="8415337" y="2841625"/>
                <a:chExt cx="200026" cy="222250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8415338" y="29942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5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8415338" y="29275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5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415337" y="28416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6425565" y="3220402"/>
                <a:ext cx="1355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vector_store.py</a:t>
                </a:r>
                <a:endParaRPr lang="zh-CN" sz="1050" b="1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427470" y="342709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向量存储与检索抽象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6438900" y="3657600"/>
                <a:ext cx="2228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8850" h="9525">
                    <a:moveTo>
                      <a:pt x="0" y="0"/>
                    </a:moveTo>
                    <a:lnTo>
                      <a:pt x="222885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428422" y="379714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职责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426518" y="3990499"/>
                <a:ext cx="14914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向量写入 / 更新 / 删除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426518" y="4200049"/>
                <a:ext cx="11710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Top-K 相似度查询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428422" y="45400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核心签名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Rectangle 83"/>
              <p:cNvSpPr/>
              <p:nvPr/>
            </p:nvSpPr>
            <p:spPr>
              <a:xfrm>
                <a:off x="6438900" y="4705350"/>
                <a:ext cx="222885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6523672" y="4806791"/>
                <a:ext cx="111140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def upsert(items)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523672" y="4959191"/>
                <a:ext cx="11174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def search(query,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6523672" y="5111591"/>
                <a:ext cx="12439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top_k=8) -&gt; matches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523672" y="5321141"/>
                <a:ext cx="11174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backend: pgvector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6438900" y="5600700"/>
                <a:ext cx="222885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6523672" y="5683091"/>
                <a:ext cx="16174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F2E5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兼容 FAISS / Milvus 后续替换</a:t>
                </a:r>
                <a:endParaRPr lang="zh-CN" sz="825" dirty="0">
                  <a:solidFill>
                    <a:srgbClr val="0F2E5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8953500" y="2667000"/>
              <a:ext cx="2286000" cy="3333750"/>
              <a:chOff x="8953500" y="2667000"/>
              <a:chExt cx="2286000" cy="33337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8953500" y="2667000"/>
                <a:ext cx="2286000" cy="3333750"/>
              </a:xfrm>
              <a:prstGeom prst="roundRect">
                <a:avLst>
                  <a:gd name="adj" fmla="val 5000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8953500" y="2667000"/>
                <a:ext cx="2286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3" name="Rectangle 93"/>
              <p:cNvSpPr/>
              <p:nvPr/>
            </p:nvSpPr>
            <p:spPr>
              <a:xfrm>
                <a:off x="9086850" y="2838450"/>
                <a:ext cx="5715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9162860" y="2892266"/>
                <a:ext cx="4194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MODEL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Freeform 95"/>
              <p:cNvSpPr/>
              <p:nvPr/>
            </p:nvSpPr>
            <p:spPr>
              <a:xfrm>
                <a:off x="10834913" y="2833913"/>
                <a:ext cx="237674" cy="237674"/>
              </a:xfrm>
              <a:custGeom>
                <a:avLst/>
                <a:gdLst/>
                <a:ahLst/>
                <a:cxnLst/>
                <a:rect l="l" t="t" r="r" b="b"/>
                <a:pathLst>
                  <a:path w="237674" h="237674">
                    <a:moveTo>
                      <a:pt x="148252" y="30837"/>
                    </a:moveTo>
                    <a:cubicBezTo>
                      <a:pt x="148857" y="33333"/>
                      <a:pt x="150616" y="35390"/>
                      <a:pt x="152988" y="36374"/>
                    </a:cubicBezTo>
                    <a:cubicBezTo>
                      <a:pt x="155360" y="37358"/>
                      <a:pt x="158060" y="37151"/>
                      <a:pt x="160253" y="35816"/>
                    </a:cubicBezTo>
                    <a:cubicBezTo>
                      <a:pt x="187357" y="19314"/>
                      <a:pt x="218372" y="50317"/>
                      <a:pt x="201870" y="77421"/>
                    </a:cubicBezTo>
                    <a:cubicBezTo>
                      <a:pt x="200535" y="79613"/>
                      <a:pt x="200326" y="82311"/>
                      <a:pt x="201307" y="84682"/>
                    </a:cubicBezTo>
                    <a:cubicBezTo>
                      <a:pt x="202289" y="87054"/>
                      <a:pt x="204343" y="88815"/>
                      <a:pt x="206837" y="89422"/>
                    </a:cubicBezTo>
                    <a:cubicBezTo>
                      <a:pt x="237674" y="96901"/>
                      <a:pt x="237674" y="140762"/>
                      <a:pt x="206837" y="148252"/>
                    </a:cubicBezTo>
                    <a:cubicBezTo>
                      <a:pt x="204341" y="148857"/>
                      <a:pt x="202284" y="150616"/>
                      <a:pt x="201300" y="152988"/>
                    </a:cubicBezTo>
                    <a:cubicBezTo>
                      <a:pt x="200316" y="155360"/>
                      <a:pt x="200524" y="158060"/>
                      <a:pt x="201859" y="160253"/>
                    </a:cubicBezTo>
                    <a:cubicBezTo>
                      <a:pt x="218361" y="187357"/>
                      <a:pt x="187357" y="218372"/>
                      <a:pt x="160253" y="201870"/>
                    </a:cubicBezTo>
                    <a:cubicBezTo>
                      <a:pt x="158061" y="200535"/>
                      <a:pt x="155364" y="200326"/>
                      <a:pt x="152992" y="201307"/>
                    </a:cubicBezTo>
                    <a:cubicBezTo>
                      <a:pt x="150620" y="202289"/>
                      <a:pt x="148859" y="204343"/>
                      <a:pt x="148252" y="206837"/>
                    </a:cubicBezTo>
                    <a:cubicBezTo>
                      <a:pt x="140773" y="237674"/>
                      <a:pt x="96912" y="237674"/>
                      <a:pt x="89422" y="206837"/>
                    </a:cubicBezTo>
                    <a:cubicBezTo>
                      <a:pt x="88818" y="204341"/>
                      <a:pt x="87058" y="202284"/>
                      <a:pt x="84686" y="201300"/>
                    </a:cubicBezTo>
                    <a:cubicBezTo>
                      <a:pt x="82314" y="200316"/>
                      <a:pt x="79615" y="200524"/>
                      <a:pt x="77421" y="201859"/>
                    </a:cubicBezTo>
                    <a:cubicBezTo>
                      <a:pt x="50317" y="218361"/>
                      <a:pt x="19302" y="187357"/>
                      <a:pt x="35804" y="160253"/>
                    </a:cubicBezTo>
                    <a:cubicBezTo>
                      <a:pt x="37139" y="158061"/>
                      <a:pt x="37348" y="155364"/>
                      <a:pt x="36367" y="152992"/>
                    </a:cubicBezTo>
                    <a:cubicBezTo>
                      <a:pt x="35385" y="150620"/>
                      <a:pt x="33331" y="148859"/>
                      <a:pt x="30837" y="148252"/>
                    </a:cubicBezTo>
                    <a:cubicBezTo>
                      <a:pt x="0" y="140773"/>
                      <a:pt x="0" y="96912"/>
                      <a:pt x="30837" y="89422"/>
                    </a:cubicBezTo>
                    <a:cubicBezTo>
                      <a:pt x="33333" y="88818"/>
                      <a:pt x="35390" y="87058"/>
                      <a:pt x="36374" y="84686"/>
                    </a:cubicBezTo>
                    <a:cubicBezTo>
                      <a:pt x="37358" y="82314"/>
                      <a:pt x="37151" y="79615"/>
                      <a:pt x="35816" y="77421"/>
                    </a:cubicBezTo>
                    <a:cubicBezTo>
                      <a:pt x="19314" y="50317"/>
                      <a:pt x="50317" y="19302"/>
                      <a:pt x="77421" y="35804"/>
                    </a:cubicBezTo>
                    <a:cubicBezTo>
                      <a:pt x="79611" y="37150"/>
                      <a:pt x="82313" y="37364"/>
                      <a:pt x="84688" y="36381"/>
                    </a:cubicBezTo>
                    <a:cubicBezTo>
                      <a:pt x="87063" y="35398"/>
                      <a:pt x="88823" y="33337"/>
                      <a:pt x="89422" y="30837"/>
                    </a:cubicBezTo>
                    <a:cubicBezTo>
                      <a:pt x="96901" y="0"/>
                      <a:pt x="140762" y="0"/>
                      <a:pt x="148252" y="30837"/>
                    </a:cubicBezTo>
                    <a:close/>
                    <a:moveTo>
                      <a:pt x="118837" y="85500"/>
                    </a:moveTo>
                    <a:cubicBezTo>
                      <a:pt x="100425" y="85500"/>
                      <a:pt x="85500" y="100425"/>
                      <a:pt x="85500" y="118837"/>
                    </a:cubicBezTo>
                    <a:cubicBezTo>
                      <a:pt x="85500" y="137249"/>
                      <a:pt x="100425" y="152175"/>
                      <a:pt x="118837" y="152175"/>
                    </a:cubicBezTo>
                    <a:cubicBezTo>
                      <a:pt x="137249" y="152175"/>
                      <a:pt x="152175" y="137249"/>
                      <a:pt x="152175" y="118837"/>
                    </a:cubicBezTo>
                    <a:cubicBezTo>
                      <a:pt x="152175" y="100425"/>
                      <a:pt x="137249" y="85500"/>
                      <a:pt x="118837" y="85500"/>
                    </a:cubicBezTo>
                  </a:path>
                </a:pathLst>
              </a:cu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9073515" y="3220402"/>
                <a:ext cx="11699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fake_model.py</a:t>
                </a:r>
                <a:endParaRPr lang="zh-CN" sz="1050" b="1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9075420" y="3427095"/>
                <a:ext cx="15081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本地假模型 + 可插拔 LLM</a:t>
                </a:r>
                <a:endParaRPr lang="zh-CN" sz="9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8" name="Line 98"/>
              <p:cNvSpPr/>
              <p:nvPr/>
            </p:nvSpPr>
            <p:spPr>
              <a:xfrm>
                <a:off x="9086850" y="3657600"/>
                <a:ext cx="2019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9525">
                    <a:moveTo>
                      <a:pt x="0" y="0"/>
                    </a:moveTo>
                    <a:lnTo>
                      <a:pt x="20193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9076372" y="379714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职责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9074468" y="399049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零成本演示生成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074468" y="42000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1E1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统一接口屏蔽差异</a:t>
                </a:r>
                <a:endParaRPr lang="zh-CN" sz="975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9076372" y="45400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核心签名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9086850" y="4705350"/>
                <a:ext cx="2019300" cy="762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9171622" y="4806791"/>
                <a:ext cx="10150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class FakeModel: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171622" y="4959191"/>
                <a:ext cx="9427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def chat(msgs)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171622" y="5168741"/>
                <a:ext cx="3884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-&gt; str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9171622" y="5321141"/>
                <a:ext cx="91259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streaming: yes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8" name="Rectangle 108"/>
              <p:cNvSpPr/>
              <p:nvPr/>
            </p:nvSpPr>
            <p:spPr>
              <a:xfrm>
                <a:off x="9086850" y="5600700"/>
                <a:ext cx="2019300" cy="266700"/>
              </a:xfrm>
              <a:prstGeom prst="roundRect">
                <a:avLst>
                  <a:gd name="adj" fmla="val 21429"/>
                </a:avLst>
              </a:prstGeom>
              <a:solidFill>
                <a:srgbClr val="FFB30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9171622" y="5683091"/>
                <a:ext cx="16596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C77B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演示首选 · 真实 LLM 可热切换</a:t>
                </a:r>
                <a:endParaRPr lang="zh-CN" sz="825" dirty="0">
                  <a:solidFill>
                    <a:srgbClr val="C77B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3505200" y="4286250"/>
              <a:ext cx="5486400" cy="95250"/>
              <a:chOff x="3505200" y="4286250"/>
              <a:chExt cx="5486400" cy="95250"/>
            </a:xfrm>
          </p:grpSpPr>
          <p:sp>
            <p:nvSpPr>
              <p:cNvPr id="111" name="Line 111"/>
              <p:cNvSpPr/>
              <p:nvPr/>
            </p:nvSpPr>
            <p:spPr>
              <a:xfrm>
                <a:off x="3505200" y="43338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2" name="Polygon 112"/>
              <p:cNvSpPr/>
              <p:nvPr/>
            </p:nvSpPr>
            <p:spPr>
              <a:xfrm>
                <a:off x="3619500" y="4286250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0" y="0"/>
                    </a:moveTo>
                    <a:lnTo>
                      <a:pt x="762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3" name="Line 113"/>
              <p:cNvSpPr/>
              <p:nvPr/>
            </p:nvSpPr>
            <p:spPr>
              <a:xfrm>
                <a:off x="6153150" y="43338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4" name="Polygon 114"/>
              <p:cNvSpPr/>
              <p:nvPr/>
            </p:nvSpPr>
            <p:spPr>
              <a:xfrm>
                <a:off x="6267450" y="4286250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0" y="0"/>
                    </a:moveTo>
                    <a:lnTo>
                      <a:pt x="762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5" name="Line 115"/>
              <p:cNvSpPr/>
              <p:nvPr/>
            </p:nvSpPr>
            <p:spPr>
              <a:xfrm>
                <a:off x="8801100" y="43338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6" name="Polygon 116"/>
              <p:cNvSpPr/>
              <p:nvPr/>
            </p:nvSpPr>
            <p:spPr>
              <a:xfrm>
                <a:off x="8915400" y="4286250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0" y="0"/>
                    </a:moveTo>
                    <a:lnTo>
                      <a:pt x="762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3" name="Ellipse 3"/>
            <p:cNvSpPr/>
            <p:nvPr/>
          </p:nvSpPr>
          <p:spPr>
            <a:xfrm>
              <a:off x="0" y="0"/>
              <a:ext cx="2286000" cy="228600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87000" y="5143500"/>
              <a:ext cx="1905000" cy="1905000"/>
            </a:xfrm>
            <a:prstGeom prst="ellipse">
              <a:avLst/>
            </a:prstGeom>
            <a:solidFill>
              <a:srgbClr val="FFB300">
                <a:alpha val="5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2000" y="495300"/>
            <a:ext cx="2797302" cy="495300"/>
            <a:chOff x="762000" y="495300"/>
            <a:chExt cx="2797302" cy="4953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访谈与检索流程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62000" y="1857375"/>
            <a:ext cx="10668000" cy="3619500"/>
            <a:chOff x="762000" y="1857375"/>
            <a:chExt cx="10668000" cy="3619500"/>
          </a:xfrm>
        </p:grpSpPr>
        <p:sp>
          <p:nvSpPr>
            <p:cNvPr id="15" name="Rectangle 15"/>
            <p:cNvSpPr/>
            <p:nvPr/>
          </p:nvSpPr>
          <p:spPr>
            <a:xfrm>
              <a:off x="762000" y="1857375"/>
              <a:ext cx="10668000" cy="3619500"/>
            </a:xfrm>
            <a:prstGeom prst="roundRect">
              <a:avLst>
                <a:gd name="adj" fmla="val 3684"/>
              </a:avLst>
            </a:prstGeom>
            <a:solidFill>
              <a:srgbClr val="FFFFFF"/>
            </a:solidFill>
            <a:ln w="9525">
              <a:solidFill>
                <a:srgbClr val="E2E6E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857375"/>
              <a:ext cx="1066800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039302"/>
              <a:ext cx="4933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完整链路 · User Input → Embedding → Vector Search → LLM → Persist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009650" y="2362200"/>
              <a:ext cx="1981200" cy="2857500"/>
              <a:chOff x="1009650" y="2362200"/>
              <a:chExt cx="19812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09650" y="2362200"/>
                <a:ext cx="1981200" cy="2857500"/>
              </a:xfrm>
              <a:prstGeom prst="roundRect">
                <a:avLst>
                  <a:gd name="adj" fmla="val 4808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009650" y="2362200"/>
                <a:ext cx="19812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09650" y="2686050"/>
                <a:ext cx="1981200" cy="952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86815" y="25346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01 · 用户输入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593975" y="2471738"/>
                <a:ext cx="222250" cy="211657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11657">
                    <a:moveTo>
                      <a:pt x="177800" y="0"/>
                    </a:moveTo>
                    <a:cubicBezTo>
                      <a:pt x="202349" y="0"/>
                      <a:pt x="222250" y="19901"/>
                      <a:pt x="222250" y="44450"/>
                    </a:cubicBezTo>
                    <a:lnTo>
                      <a:pt x="222250" y="133350"/>
                    </a:lnTo>
                    <a:cubicBezTo>
                      <a:pt x="222250" y="157899"/>
                      <a:pt x="202349" y="177800"/>
                      <a:pt x="177800" y="177800"/>
                    </a:cubicBezTo>
                    <a:lnTo>
                      <a:pt x="125305" y="177800"/>
                    </a:lnTo>
                    <a:lnTo>
                      <a:pt x="72387" y="209548"/>
                    </a:lnTo>
                    <a:cubicBezTo>
                      <a:pt x="69149" y="211492"/>
                      <a:pt x="65145" y="211657"/>
                      <a:pt x="61757" y="209988"/>
                    </a:cubicBezTo>
                    <a:cubicBezTo>
                      <a:pt x="58370" y="208319"/>
                      <a:pt x="56061" y="205044"/>
                      <a:pt x="55629" y="201292"/>
                    </a:cubicBezTo>
                    <a:lnTo>
                      <a:pt x="55563" y="200025"/>
                    </a:lnTo>
                    <a:lnTo>
                      <a:pt x="55563" y="177800"/>
                    </a:lnTo>
                    <a:lnTo>
                      <a:pt x="44450" y="177800"/>
                    </a:lnTo>
                    <a:cubicBezTo>
                      <a:pt x="20765" y="177800"/>
                      <a:pt x="1240" y="159228"/>
                      <a:pt x="56" y="135573"/>
                    </a:cubicBezTo>
                    <a:lnTo>
                      <a:pt x="0" y="133350"/>
                    </a:ln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lose/>
                    <a:moveTo>
                      <a:pt x="146685" y="103191"/>
                    </a:moveTo>
                    <a:cubicBezTo>
                      <a:pt x="142303" y="98895"/>
                      <a:pt x="135268" y="98965"/>
                      <a:pt x="130972" y="103346"/>
                    </a:cubicBezTo>
                    <a:cubicBezTo>
                      <a:pt x="125746" y="108681"/>
                      <a:pt x="118593" y="111688"/>
                      <a:pt x="111125" y="111688"/>
                    </a:cubicBezTo>
                    <a:cubicBezTo>
                      <a:pt x="103657" y="111688"/>
                      <a:pt x="96504" y="108681"/>
                      <a:pt x="91278" y="103346"/>
                    </a:cubicBezTo>
                    <a:cubicBezTo>
                      <a:pt x="86963" y="99069"/>
                      <a:pt x="80014" y="99050"/>
                      <a:pt x="75675" y="103303"/>
                    </a:cubicBezTo>
                    <a:cubicBezTo>
                      <a:pt x="71337" y="107556"/>
                      <a:pt x="71219" y="114505"/>
                      <a:pt x="75409" y="118904"/>
                    </a:cubicBezTo>
                    <a:cubicBezTo>
                      <a:pt x="84815" y="128501"/>
                      <a:pt x="97687" y="133910"/>
                      <a:pt x="111125" y="133910"/>
                    </a:cubicBezTo>
                    <a:cubicBezTo>
                      <a:pt x="124563" y="133910"/>
                      <a:pt x="137435" y="128501"/>
                      <a:pt x="146841" y="118904"/>
                    </a:cubicBezTo>
                    <a:cubicBezTo>
                      <a:pt x="151136" y="114521"/>
                      <a:pt x="151066" y="107487"/>
                      <a:pt x="146685" y="103191"/>
                    </a:cubicBezTo>
                    <a:moveTo>
                      <a:pt x="83455" y="55562"/>
                    </a:moveTo>
                    <a:lnTo>
                      <a:pt x="83344" y="55562"/>
                    </a:lnTo>
                    <a:cubicBezTo>
                      <a:pt x="77206" y="55562"/>
                      <a:pt x="72231" y="60538"/>
                      <a:pt x="72231" y="66675"/>
                    </a:cubicBezTo>
                    <a:cubicBezTo>
                      <a:pt x="72231" y="72812"/>
                      <a:pt x="77206" y="77788"/>
                      <a:pt x="83344" y="77788"/>
                    </a:cubicBezTo>
                    <a:lnTo>
                      <a:pt x="83455" y="77788"/>
                    </a:lnTo>
                    <a:cubicBezTo>
                      <a:pt x="89592" y="77788"/>
                      <a:pt x="94567" y="72812"/>
                      <a:pt x="94567" y="66675"/>
                    </a:cubicBezTo>
                    <a:cubicBezTo>
                      <a:pt x="94567" y="60538"/>
                      <a:pt x="89592" y="55562"/>
                      <a:pt x="83455" y="55562"/>
                    </a:cubicBezTo>
                    <a:moveTo>
                      <a:pt x="139017" y="55562"/>
                    </a:moveTo>
                    <a:lnTo>
                      <a:pt x="138906" y="55562"/>
                    </a:lnTo>
                    <a:cubicBezTo>
                      <a:pt x="132769" y="55562"/>
                      <a:pt x="127794" y="60538"/>
                      <a:pt x="127794" y="66675"/>
                    </a:cubicBezTo>
                    <a:cubicBezTo>
                      <a:pt x="127794" y="72812"/>
                      <a:pt x="132769" y="77788"/>
                      <a:pt x="138906" y="77788"/>
                    </a:cubicBezTo>
                    <a:lnTo>
                      <a:pt x="139017" y="77788"/>
                    </a:lnTo>
                    <a:cubicBezTo>
                      <a:pt x="145155" y="77788"/>
                      <a:pt x="150130" y="72812"/>
                      <a:pt x="150130" y="66675"/>
                    </a:cubicBezTo>
                    <a:cubicBezTo>
                      <a:pt x="150130" y="60538"/>
                      <a:pt x="145155" y="55562"/>
                      <a:pt x="139017" y="5556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87768" y="294274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简历文本 + 期望岗位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87768" y="3152299"/>
                <a:ext cx="13846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补充上下文/历史问答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87768" y="336184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指定面试官风格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1200150" y="367665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89672" y="3797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产出物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00150" y="3962400"/>
                <a:ext cx="16002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83970" y="4074795"/>
                <a:ext cx="1357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UserContext + Query</a:t>
                </a:r>
                <a:endParaRPr lang="zh-CN" sz="900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89672" y="446389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1200150" y="4629150"/>
                <a:ext cx="16002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84922" y="4711541"/>
                <a:ext cx="8222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role: backend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84922" y="4882991"/>
                <a:ext cx="12258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years: 2 · stack: py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124200" y="2362200"/>
              <a:ext cx="1981200" cy="2857500"/>
              <a:chOff x="3124200" y="2362200"/>
              <a:chExt cx="1981200" cy="2857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124200" y="2362200"/>
                <a:ext cx="1981200" cy="2857500"/>
              </a:xfrm>
              <a:prstGeom prst="roundRect">
                <a:avLst>
                  <a:gd name="adj" fmla="val 4808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24200" y="2362200"/>
                <a:ext cx="19812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3124200" y="2686050"/>
                <a:ext cx="1981200" cy="952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3301365" y="2534602"/>
                <a:ext cx="10330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02 · 向量检索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4699674" y="2450194"/>
                <a:ext cx="232057" cy="233636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6">
                    <a:moveTo>
                      <a:pt x="142201" y="22344"/>
                    </a:moveTo>
                    <a:cubicBezTo>
                      <a:pt x="164449" y="35186"/>
                      <a:pt x="180054" y="57025"/>
                      <a:pt x="184996" y="82234"/>
                    </a:cubicBezTo>
                    <a:cubicBezTo>
                      <a:pt x="189938" y="107442"/>
                      <a:pt x="183734" y="133557"/>
                      <a:pt x="167982" y="153849"/>
                    </a:cubicBezTo>
                    <a:lnTo>
                      <a:pt x="227845" y="213712"/>
                    </a:lnTo>
                    <a:cubicBezTo>
                      <a:pt x="232057" y="218072"/>
                      <a:pt x="231996" y="225003"/>
                      <a:pt x="227710" y="229290"/>
                    </a:cubicBezTo>
                    <a:cubicBezTo>
                      <a:pt x="223424" y="233576"/>
                      <a:pt x="216493" y="233636"/>
                      <a:pt x="212132" y="229425"/>
                    </a:cubicBezTo>
                    <a:lnTo>
                      <a:pt x="152258" y="169562"/>
                    </a:lnTo>
                    <a:cubicBezTo>
                      <a:pt x="116964" y="196948"/>
                      <a:pt x="66829" y="193890"/>
                      <a:pt x="35126" y="162416"/>
                    </a:cubicBezTo>
                    <a:cubicBezTo>
                      <a:pt x="3423" y="130943"/>
                      <a:pt x="0" y="80831"/>
                      <a:pt x="27129" y="45339"/>
                    </a:cubicBezTo>
                    <a:cubicBezTo>
                      <a:pt x="54258" y="9847"/>
                      <a:pt x="103512" y="0"/>
                      <a:pt x="142201" y="223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302318" y="29427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查询文本切片分块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302318" y="3152299"/>
                <a:ext cx="1334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embedding 模型编码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302318" y="3361849"/>
                <a:ext cx="14131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pgvector Top-K 搜索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3314700" y="367665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3304222" y="3797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产出物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3314700" y="3962400"/>
                <a:ext cx="16002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398520" y="4074795"/>
                <a:ext cx="124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List[VectorMatch]</a:t>
                </a:r>
                <a:endParaRPr lang="zh-CN" sz="900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304222" y="446389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314700" y="4629150"/>
                <a:ext cx="16002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399472" y="4711541"/>
                <a:ext cx="5571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top_k = 8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99472" y="4882991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cos &gt; 0.72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5238750" y="2362200"/>
              <a:ext cx="1981200" cy="2857500"/>
              <a:chOff x="5238750" y="2362200"/>
              <a:chExt cx="1981200" cy="28575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238750" y="2362200"/>
                <a:ext cx="1981200" cy="2857500"/>
              </a:xfrm>
              <a:prstGeom prst="roundRect">
                <a:avLst>
                  <a:gd name="adj" fmla="val 4808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5238750" y="2362200"/>
                <a:ext cx="19812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5238750" y="2686050"/>
                <a:ext cx="1981200" cy="952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415915" y="2534602"/>
                <a:ext cx="10330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03 · 候选召回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59" name="Group 59"/>
              <p:cNvGrpSpPr/>
              <p:nvPr/>
            </p:nvGrpSpPr>
            <p:grpSpPr>
              <a:xfrm>
                <a:off x="6834187" y="2460625"/>
                <a:ext cx="200026" cy="222250"/>
                <a:chOff x="6834187" y="2460625"/>
                <a:chExt cx="200026" cy="2222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6834188" y="26132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5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834188" y="25465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5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834187" y="24606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5416868" y="29427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合并多源候选问题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416868" y="3152299"/>
                <a:ext cx="14701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基于难度/标签 Rerank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5416868" y="336184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语境与历史去重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5429250" y="367665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5418772" y="3797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产出物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5429250" y="3962400"/>
                <a:ext cx="16002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5513070" y="4074795"/>
                <a:ext cx="11467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RankedCandidates</a:t>
                </a:r>
                <a:endParaRPr lang="zh-CN" sz="900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418772" y="446389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5429250" y="4629150"/>
                <a:ext cx="16002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5514022" y="4711541"/>
                <a:ext cx="6294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final_n = 3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514022" y="4882991"/>
                <a:ext cx="8222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tags: rag, py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7353300" y="2362200"/>
              <a:ext cx="1989987" cy="2857500"/>
              <a:chOff x="7353300" y="2362200"/>
              <a:chExt cx="1989987" cy="28575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7353300" y="2362200"/>
                <a:ext cx="1981200" cy="2857500"/>
              </a:xfrm>
              <a:prstGeom prst="roundRect">
                <a:avLst>
                  <a:gd name="adj" fmla="val 4808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7353300" y="2362200"/>
                <a:ext cx="198120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7353300" y="2686050"/>
                <a:ext cx="1981200" cy="9525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530465" y="2534602"/>
                <a:ext cx="10330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04 · 生成回答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8929913" y="2452913"/>
                <a:ext cx="237674" cy="237674"/>
              </a:xfrm>
              <a:custGeom>
                <a:avLst/>
                <a:gdLst/>
                <a:ahLst/>
                <a:cxnLst/>
                <a:rect l="l" t="t" r="r" b="b"/>
                <a:pathLst>
                  <a:path w="237674" h="237674">
                    <a:moveTo>
                      <a:pt x="148252" y="30837"/>
                    </a:moveTo>
                    <a:cubicBezTo>
                      <a:pt x="148857" y="33333"/>
                      <a:pt x="150616" y="35390"/>
                      <a:pt x="152988" y="36374"/>
                    </a:cubicBezTo>
                    <a:cubicBezTo>
                      <a:pt x="155360" y="37358"/>
                      <a:pt x="158060" y="37151"/>
                      <a:pt x="160253" y="35816"/>
                    </a:cubicBezTo>
                    <a:cubicBezTo>
                      <a:pt x="187357" y="19314"/>
                      <a:pt x="218372" y="50317"/>
                      <a:pt x="201870" y="77421"/>
                    </a:cubicBezTo>
                    <a:cubicBezTo>
                      <a:pt x="200535" y="79613"/>
                      <a:pt x="200326" y="82311"/>
                      <a:pt x="201307" y="84682"/>
                    </a:cubicBezTo>
                    <a:cubicBezTo>
                      <a:pt x="202289" y="87054"/>
                      <a:pt x="204343" y="88815"/>
                      <a:pt x="206837" y="89422"/>
                    </a:cubicBezTo>
                    <a:cubicBezTo>
                      <a:pt x="237674" y="96901"/>
                      <a:pt x="237674" y="140762"/>
                      <a:pt x="206837" y="148252"/>
                    </a:cubicBezTo>
                    <a:cubicBezTo>
                      <a:pt x="204341" y="148857"/>
                      <a:pt x="202284" y="150616"/>
                      <a:pt x="201300" y="152988"/>
                    </a:cubicBezTo>
                    <a:cubicBezTo>
                      <a:pt x="200316" y="155360"/>
                      <a:pt x="200524" y="158060"/>
                      <a:pt x="201859" y="160253"/>
                    </a:cubicBezTo>
                    <a:cubicBezTo>
                      <a:pt x="218361" y="187357"/>
                      <a:pt x="187357" y="218372"/>
                      <a:pt x="160253" y="201870"/>
                    </a:cubicBezTo>
                    <a:cubicBezTo>
                      <a:pt x="158061" y="200535"/>
                      <a:pt x="155364" y="200326"/>
                      <a:pt x="152992" y="201307"/>
                    </a:cubicBezTo>
                    <a:cubicBezTo>
                      <a:pt x="150620" y="202289"/>
                      <a:pt x="148859" y="204343"/>
                      <a:pt x="148252" y="206837"/>
                    </a:cubicBezTo>
                    <a:cubicBezTo>
                      <a:pt x="140773" y="237674"/>
                      <a:pt x="96912" y="237674"/>
                      <a:pt x="89422" y="206837"/>
                    </a:cubicBezTo>
                    <a:cubicBezTo>
                      <a:pt x="88818" y="204341"/>
                      <a:pt x="87058" y="202284"/>
                      <a:pt x="84686" y="201300"/>
                    </a:cubicBezTo>
                    <a:cubicBezTo>
                      <a:pt x="82314" y="200316"/>
                      <a:pt x="79615" y="200524"/>
                      <a:pt x="77421" y="201859"/>
                    </a:cubicBezTo>
                    <a:cubicBezTo>
                      <a:pt x="50317" y="218361"/>
                      <a:pt x="19302" y="187357"/>
                      <a:pt x="35804" y="160253"/>
                    </a:cubicBezTo>
                    <a:cubicBezTo>
                      <a:pt x="37139" y="158061"/>
                      <a:pt x="37348" y="155364"/>
                      <a:pt x="36367" y="152992"/>
                    </a:cubicBezTo>
                    <a:cubicBezTo>
                      <a:pt x="35385" y="150620"/>
                      <a:pt x="33331" y="148859"/>
                      <a:pt x="30837" y="148252"/>
                    </a:cubicBezTo>
                    <a:cubicBezTo>
                      <a:pt x="0" y="140773"/>
                      <a:pt x="0" y="96912"/>
                      <a:pt x="30837" y="89422"/>
                    </a:cubicBezTo>
                    <a:cubicBezTo>
                      <a:pt x="33333" y="88818"/>
                      <a:pt x="35390" y="87058"/>
                      <a:pt x="36374" y="84686"/>
                    </a:cubicBezTo>
                    <a:cubicBezTo>
                      <a:pt x="37358" y="82314"/>
                      <a:pt x="37151" y="79615"/>
                      <a:pt x="35816" y="77421"/>
                    </a:cubicBezTo>
                    <a:cubicBezTo>
                      <a:pt x="19314" y="50317"/>
                      <a:pt x="50317" y="19302"/>
                      <a:pt x="77421" y="35804"/>
                    </a:cubicBezTo>
                    <a:cubicBezTo>
                      <a:pt x="79611" y="37150"/>
                      <a:pt x="82313" y="37364"/>
                      <a:pt x="84688" y="36381"/>
                    </a:cubicBezTo>
                    <a:cubicBezTo>
                      <a:pt x="87063" y="35398"/>
                      <a:pt x="88823" y="33337"/>
                      <a:pt x="89422" y="30837"/>
                    </a:cubicBezTo>
                    <a:cubicBezTo>
                      <a:pt x="96901" y="0"/>
                      <a:pt x="140762" y="0"/>
                      <a:pt x="148252" y="30837"/>
                    </a:cubicBezTo>
                    <a:close/>
                    <a:moveTo>
                      <a:pt x="118837" y="85500"/>
                    </a:moveTo>
                    <a:cubicBezTo>
                      <a:pt x="100425" y="85500"/>
                      <a:pt x="85500" y="100425"/>
                      <a:pt x="85500" y="118837"/>
                    </a:cubicBezTo>
                    <a:cubicBezTo>
                      <a:pt x="85500" y="137249"/>
                      <a:pt x="100425" y="152175"/>
                      <a:pt x="118837" y="152175"/>
                    </a:cubicBezTo>
                    <a:cubicBezTo>
                      <a:pt x="137249" y="152175"/>
                      <a:pt x="152175" y="137249"/>
                      <a:pt x="152175" y="118837"/>
                    </a:cubicBezTo>
                    <a:cubicBezTo>
                      <a:pt x="152175" y="100425"/>
                      <a:pt x="137249" y="85500"/>
                      <a:pt x="118837" y="8550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531418" y="2942749"/>
                <a:ext cx="1811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提示词拼装（角色/上下文）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531418" y="3152299"/>
                <a:ext cx="13490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假模型 / LLM 双路径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531418" y="3361849"/>
                <a:ext cx="1327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流式输出 + 错误兜底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Line 80"/>
              <p:cNvSpPr/>
              <p:nvPr/>
            </p:nvSpPr>
            <p:spPr>
              <a:xfrm>
                <a:off x="7543800" y="367665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533322" y="3797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产出物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7543800" y="3962400"/>
                <a:ext cx="16002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27620" y="4074795"/>
                <a:ext cx="9232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2E5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InterviewTurn</a:t>
                </a:r>
                <a:endParaRPr lang="zh-CN" sz="900" dirty="0">
                  <a:solidFill>
                    <a:srgbClr val="0F2E5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533322" y="446389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7543800" y="4629150"/>
                <a:ext cx="16002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8572" y="4711541"/>
                <a:ext cx="8824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model: fake-v1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7628572" y="4882991"/>
                <a:ext cx="6896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tokens: 180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9467850" y="2362200"/>
              <a:ext cx="1847850" cy="2857500"/>
              <a:chOff x="9467850" y="2362200"/>
              <a:chExt cx="1847850" cy="2857500"/>
            </a:xfrm>
          </p:grpSpPr>
          <p:sp>
            <p:nvSpPr>
              <p:cNvPr id="89" name="Rectangle 89"/>
              <p:cNvSpPr/>
              <p:nvPr/>
            </p:nvSpPr>
            <p:spPr>
              <a:xfrm>
                <a:off x="9467850" y="2362200"/>
                <a:ext cx="1847850" cy="2857500"/>
              </a:xfrm>
              <a:prstGeom prst="roundRect">
                <a:avLst>
                  <a:gd name="adj" fmla="val 5155"/>
                </a:avLst>
              </a:prstGeom>
              <a:solidFill>
                <a:srgbClr val="F7F9FC"/>
              </a:solidFill>
              <a:ln w="9525">
                <a:solidFill>
                  <a:srgbClr val="E2E6ED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9467850" y="2362200"/>
                <a:ext cx="1847850" cy="419100"/>
              </a:xfrm>
              <a:prstGeom prst="roundRect">
                <a:avLst>
                  <a:gd name="adj" fmla="val 22727"/>
                </a:avLst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9467850" y="2686050"/>
                <a:ext cx="1847850" cy="95250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9645015" y="2534602"/>
                <a:ext cx="8720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05 · 持久化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95" name="Group 95"/>
              <p:cNvGrpSpPr/>
              <p:nvPr/>
            </p:nvGrpSpPr>
            <p:grpSpPr>
              <a:xfrm>
                <a:off x="10929938" y="2460625"/>
                <a:ext cx="200025" cy="233358"/>
                <a:chOff x="10929938" y="2460625"/>
                <a:chExt cx="200025" cy="233358"/>
              </a:xfrm>
            </p:grpSpPr>
            <p:sp>
              <p:nvSpPr>
                <p:cNvPr id="93" name="Freeform 93"/>
                <p:cNvSpPr/>
                <p:nvPr/>
              </p:nvSpPr>
              <p:spPr>
                <a:xfrm>
                  <a:off x="10929938" y="2627308"/>
                  <a:ext cx="20002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6675">
                      <a:moveTo>
                        <a:pt x="100012" y="4"/>
                      </a:moveTo>
                      <a:cubicBezTo>
                        <a:pt x="114525" y="4"/>
                        <a:pt x="126883" y="9283"/>
                        <a:pt x="131461" y="22229"/>
                      </a:cubicBezTo>
                      <a:lnTo>
                        <a:pt x="188912" y="22229"/>
                      </a:lnTo>
                      <a:cubicBezTo>
                        <a:pt x="195050" y="22229"/>
                        <a:pt x="200025" y="27204"/>
                        <a:pt x="200025" y="33342"/>
                      </a:cubicBezTo>
                      <a:cubicBezTo>
                        <a:pt x="200025" y="39479"/>
                        <a:pt x="195050" y="44454"/>
                        <a:pt x="188912" y="44454"/>
                      </a:cubicBezTo>
                      <a:lnTo>
                        <a:pt x="131450" y="44454"/>
                      </a:lnTo>
                      <a:cubicBezTo>
                        <a:pt x="126735" y="57772"/>
                        <a:pt x="114141" y="66675"/>
                        <a:pt x="100012" y="66675"/>
                      </a:cubicBezTo>
                      <a:cubicBezTo>
                        <a:pt x="85884" y="66675"/>
                        <a:pt x="73290" y="57772"/>
                        <a:pt x="68575" y="44454"/>
                      </a:cubicBezTo>
                      <a:lnTo>
                        <a:pt x="11113" y="44454"/>
                      </a:lnTo>
                      <a:cubicBezTo>
                        <a:pt x="4975" y="44454"/>
                        <a:pt x="0" y="39479"/>
                        <a:pt x="0" y="33342"/>
                      </a:cubicBezTo>
                      <a:cubicBezTo>
                        <a:pt x="0" y="27204"/>
                        <a:pt x="4975" y="22229"/>
                        <a:pt x="11113" y="22229"/>
                      </a:cubicBezTo>
                      <a:lnTo>
                        <a:pt x="68564" y="22229"/>
                      </a:lnTo>
                      <a:cubicBezTo>
                        <a:pt x="73278" y="8905"/>
                        <a:pt x="85879" y="0"/>
                        <a:pt x="100012" y="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10952162" y="2460625"/>
                  <a:ext cx="155575" cy="156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6673">
                      <a:moveTo>
                        <a:pt x="133350" y="0"/>
                      </a:move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111125"/>
                      </a:lnTo>
                      <a:cubicBezTo>
                        <a:pt x="155575" y="123400"/>
                        <a:pt x="145625" y="133350"/>
                        <a:pt x="133350" y="133350"/>
                      </a:cubicBezTo>
                      <a:lnTo>
                        <a:pt x="104613" y="133350"/>
                      </a:lnTo>
                      <a:lnTo>
                        <a:pt x="85644" y="152319"/>
                      </a:lnTo>
                      <a:cubicBezTo>
                        <a:pt x="81685" y="156278"/>
                        <a:pt x="75399" y="156673"/>
                        <a:pt x="70976" y="153241"/>
                      </a:cubicBezTo>
                      <a:lnTo>
                        <a:pt x="69931" y="152319"/>
                      </a:lnTo>
                      <a:lnTo>
                        <a:pt x="50951" y="133350"/>
                      </a:lnTo>
                      <a:lnTo>
                        <a:pt x="22225" y="133350"/>
                      </a:lnTo>
                      <a:cubicBezTo>
                        <a:pt x="10594" y="133354"/>
                        <a:pt x="928" y="124390"/>
                        <a:pt x="56" y="112792"/>
                      </a:cubicBezTo>
                      <a:lnTo>
                        <a:pt x="0" y="111125"/>
                      </a:ln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96" name="TextBox 96"/>
              <p:cNvSpPr txBox="1"/>
              <p:nvPr/>
            </p:nvSpPr>
            <p:spPr>
              <a:xfrm>
                <a:off x="9645968" y="2942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会话整体落库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9645968" y="315229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回放接口可导出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645968" y="3361849"/>
                <a:ext cx="10215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F6B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指标统计可视化</a:t>
                </a:r>
                <a:endParaRPr lang="zh-CN" sz="975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Line 99"/>
              <p:cNvSpPr/>
              <p:nvPr/>
            </p:nvSpPr>
            <p:spPr>
              <a:xfrm>
                <a:off x="9658350" y="3676650"/>
                <a:ext cx="148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85900" h="9525">
                    <a:moveTo>
                      <a:pt x="0" y="0"/>
                    </a:moveTo>
                    <a:lnTo>
                      <a:pt x="14859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9647872" y="3797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产出物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9658350" y="3962400"/>
                <a:ext cx="14859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FFB30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9742170" y="4074795"/>
                <a:ext cx="9298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C77B0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SessionRecord</a:t>
                </a:r>
                <a:endParaRPr lang="zh-CN" sz="900" dirty="0">
                  <a:solidFill>
                    <a:srgbClr val="C77B0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9647872" y="4463891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C96A5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825" dirty="0">
                  <a:solidFill>
                    <a:srgbClr val="8C96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4" name="Rectangle 104"/>
              <p:cNvSpPr/>
              <p:nvPr/>
            </p:nvSpPr>
            <p:spPr>
              <a:xfrm>
                <a:off x="9658350" y="4629150"/>
                <a:ext cx="1485900" cy="476250"/>
              </a:xfrm>
              <a:prstGeom prst="roundRect">
                <a:avLst>
                  <a:gd name="adj" fmla="val 12000"/>
                </a:avLst>
              </a:prstGeom>
              <a:solidFill>
                <a:srgbClr val="0F2E52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9743122" y="4711541"/>
                <a:ext cx="5571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turns: 12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743122" y="4882991"/>
                <a:ext cx="8161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E1E1E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duration: 15m</a:t>
                </a:r>
                <a:endParaRPr lang="zh-CN" sz="825" dirty="0">
                  <a:solidFill>
                    <a:srgbClr val="1E1E1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3009900" y="3733800"/>
              <a:ext cx="6438900" cy="114300"/>
              <a:chOff x="3009900" y="3733800"/>
              <a:chExt cx="6438900" cy="114300"/>
            </a:xfrm>
          </p:grpSpPr>
          <p:sp>
            <p:nvSpPr>
              <p:cNvPr id="108" name="Polygon 108"/>
              <p:cNvSpPr/>
              <p:nvPr/>
            </p:nvSpPr>
            <p:spPr>
              <a:xfrm>
                <a:off x="3009900" y="37338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57150"/>
                    </a:moveTo>
                    <a:lnTo>
                      <a:pt x="95250" y="0"/>
                    </a:lnTo>
                    <a:lnTo>
                      <a:pt x="95250" y="11430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9" name="Polygon 109"/>
              <p:cNvSpPr/>
              <p:nvPr/>
            </p:nvSpPr>
            <p:spPr>
              <a:xfrm>
                <a:off x="5124450" y="37338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57150"/>
                    </a:moveTo>
                    <a:lnTo>
                      <a:pt x="95250" y="0"/>
                    </a:lnTo>
                    <a:lnTo>
                      <a:pt x="95250" y="11430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0" name="Polygon 110"/>
              <p:cNvSpPr/>
              <p:nvPr/>
            </p:nvSpPr>
            <p:spPr>
              <a:xfrm>
                <a:off x="7239000" y="37338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57150"/>
                    </a:moveTo>
                    <a:lnTo>
                      <a:pt x="95250" y="0"/>
                    </a:lnTo>
                    <a:lnTo>
                      <a:pt x="95250" y="11430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11" name="Polygon 111"/>
              <p:cNvSpPr/>
              <p:nvPr/>
            </p:nvSpPr>
            <p:spPr>
              <a:xfrm>
                <a:off x="9353550" y="37338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0" y="57150"/>
                    </a:moveTo>
                    <a:lnTo>
                      <a:pt x="95250" y="0"/>
                    </a:lnTo>
                    <a:lnTo>
                      <a:pt x="95250" y="114300"/>
                    </a:lnTo>
                    <a:close/>
                  </a:path>
                </a:pathLst>
              </a:custGeom>
              <a:solidFill>
                <a:srgbClr val="FFB300"/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2560320"/>
            <a:ext cx="12191999" cy="18288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8" y="2560320"/>
            <a:ext cx="137160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838" y="292608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PART 0</a:t>
            </a:r>
            <a:r>
              <a:rPr lang="en-US"/>
              <a:t>4</a:t>
            </a:r>
            <a:r>
              <a:t> · </a:t>
            </a:r>
            <a:r>
              <a:rPr lang="en-US" altLang="zh-CN"/>
              <a:t>AI</a:t>
            </a:r>
            <a:r>
              <a:rPr lang="zh-CN" altLang="en-US"/>
              <a:t>编程使用</a:t>
            </a:r>
            <a:r>
              <a:rPr lang="zh-CN" altLang="en-US"/>
              <a:t>心得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5592" b="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>
              <a:alpha val="94000"/>
            </a:srgbClr>
          </a:solidFill>
          <a:ln>
            <a:noFill/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533400" y="533400"/>
            <a:ext cx="11125200" cy="5791200"/>
            <a:chOff x="533400" y="533400"/>
            <a:chExt cx="11125200" cy="5791200"/>
          </a:xfrm>
        </p:grpSpPr>
        <p:sp>
          <p:nvSpPr>
            <p:cNvPr id="4" name="Ellipse 4"/>
            <p:cNvSpPr/>
            <p:nvPr/>
          </p:nvSpPr>
          <p:spPr>
            <a:xfrm>
              <a:off x="533400" y="533400"/>
              <a:ext cx="76200" cy="76200"/>
            </a:xfrm>
            <a:prstGeom prst="ellipse">
              <a:avLst/>
            </a:prstGeom>
            <a:solidFill>
              <a:srgbClr val="1565C0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14400" y="533400"/>
              <a:ext cx="76200" cy="76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1295400" y="533400"/>
              <a:ext cx="76200" cy="76200"/>
            </a:xfrm>
            <a:prstGeom prst="ellipse">
              <a:avLst/>
            </a:prstGeom>
            <a:solidFill>
              <a:srgbClr val="1565C0">
                <a:alpha val="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582400" y="6248400"/>
              <a:ext cx="76200" cy="76200"/>
            </a:xfrm>
            <a:prstGeom prst="ellipse">
              <a:avLst/>
            </a:prstGeom>
            <a:solidFill>
              <a:srgbClr val="FFB300">
                <a:alpha val="3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1201400" y="6248400"/>
              <a:ext cx="76200" cy="76200"/>
            </a:xfrm>
            <a:prstGeom prst="ellipse">
              <a:avLst/>
            </a:prstGeom>
            <a:solidFill>
              <a:srgbClr val="FFB300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10820400" y="6248400"/>
              <a:ext cx="76200" cy="76200"/>
            </a:xfrm>
            <a:prstGeom prst="ellipse">
              <a:avLst/>
            </a:prstGeom>
            <a:solidFill>
              <a:srgbClr val="FFB300">
                <a:alpha val="12000"/>
              </a:srgbClr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718185"/>
            <a:ext cx="2819400" cy="381000"/>
            <a:chOff x="762000" y="495300"/>
            <a:chExt cx="2819400" cy="381000"/>
          </a:xfrm>
        </p:grpSpPr>
        <p:sp>
          <p:nvSpPr>
            <p:cNvPr id="11" name="Rectangle 11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22020" y="502920"/>
              <a:ext cx="265938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400" b="1" dirty="0">
                  <a:solidFill>
                    <a:srgbClr val="1E1E1E"/>
                  </a:solidFill>
                  <a:latin typeface="Calibri" panose="020F0502020204030204" charset="0"/>
                  <a:ea typeface="楷体" panose="02010609060101010101" charset="-122"/>
                  <a:cs typeface="Calibri" panose="020F0502020204030204" charset="0"/>
                </a:rPr>
                <a:t>Agent</a:t>
              </a:r>
              <a:r>
                <a:rPr lang="en-US" alt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 </a:t>
              </a:r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辅助开发实践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762000" y="1809750"/>
            <a:ext cx="10668000" cy="4381500"/>
            <a:chOff x="762000" y="1809750"/>
            <a:chExt cx="10668000" cy="4381500"/>
          </a:xfrm>
        </p:grpSpPr>
        <p:grpSp>
          <p:nvGrpSpPr>
            <p:cNvPr id="38" name="Group 38"/>
            <p:cNvGrpSpPr/>
            <p:nvPr/>
          </p:nvGrpSpPr>
          <p:grpSpPr>
            <a:xfrm>
              <a:off x="762000" y="1809750"/>
              <a:ext cx="3429000" cy="2095500"/>
              <a:chOff x="762000" y="1809750"/>
              <a:chExt cx="3429000" cy="2095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9334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1060449" y="2178050"/>
                <a:ext cx="203202" cy="254001"/>
                <a:chOff x="1060449" y="2178050"/>
                <a:chExt cx="203202" cy="25400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060449" y="2178050"/>
                  <a:ext cx="203202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2" h="254001">
                      <a:moveTo>
                        <a:pt x="101601" y="0"/>
                      </a:moveTo>
                      <a:lnTo>
                        <a:pt x="103087" y="89"/>
                      </a:lnTo>
                      <a:cubicBezTo>
                        <a:pt x="108923" y="777"/>
                        <a:pt x="113524" y="5379"/>
                        <a:pt x="114212" y="11214"/>
                      </a:cubicBezTo>
                      <a:lnTo>
                        <a:pt x="114301" y="12700"/>
                      </a:lnTo>
                      <a:lnTo>
                        <a:pt x="114301" y="63500"/>
                      </a:lnTo>
                      <a:lnTo>
                        <a:pt x="114365" y="65405"/>
                      </a:lnTo>
                      <a:cubicBezTo>
                        <a:pt x="115304" y="77900"/>
                        <a:pt x="125215" y="87844"/>
                        <a:pt x="137707" y="88824"/>
                      </a:cubicBezTo>
                      <a:lnTo>
                        <a:pt x="139701" y="88900"/>
                      </a:lnTo>
                      <a:lnTo>
                        <a:pt x="190501" y="88900"/>
                      </a:lnTo>
                      <a:lnTo>
                        <a:pt x="191987" y="88989"/>
                      </a:lnTo>
                      <a:cubicBezTo>
                        <a:pt x="197823" y="89677"/>
                        <a:pt x="202424" y="94279"/>
                        <a:pt x="203112" y="100114"/>
                      </a:cubicBezTo>
                      <a:lnTo>
                        <a:pt x="203201" y="101600"/>
                      </a:lnTo>
                      <a:lnTo>
                        <a:pt x="203201" y="215900"/>
                      </a:lnTo>
                      <a:cubicBezTo>
                        <a:pt x="203202" y="236075"/>
                        <a:pt x="187476" y="252753"/>
                        <a:pt x="167336" y="253937"/>
                      </a:cubicBezTo>
                      <a:lnTo>
                        <a:pt x="165101" y="254000"/>
                      </a:lnTo>
                      <a:lnTo>
                        <a:pt x="38101" y="254000"/>
                      </a:lnTo>
                      <a:cubicBezTo>
                        <a:pt x="17926" y="254001"/>
                        <a:pt x="1248" y="238275"/>
                        <a:pt x="65" y="218135"/>
                      </a:cubicBezTo>
                      <a:lnTo>
                        <a:pt x="1" y="215900"/>
                      </a:lnTo>
                      <a:lnTo>
                        <a:pt x="1" y="38100"/>
                      </a:lnTo>
                      <a:cubicBezTo>
                        <a:pt x="0" y="17925"/>
                        <a:pt x="15726" y="1247"/>
                        <a:pt x="35866" y="63"/>
                      </a:cubicBezTo>
                      <a:lnTo>
                        <a:pt x="38101" y="0"/>
                      </a:lnTo>
                      <a:close/>
                      <a:moveTo>
                        <a:pt x="81878" y="141046"/>
                      </a:moveTo>
                      <a:cubicBezTo>
                        <a:pt x="75607" y="137915"/>
                        <a:pt x="67985" y="140455"/>
                        <a:pt x="64847" y="146723"/>
                      </a:cubicBezTo>
                      <a:lnTo>
                        <a:pt x="52147" y="172123"/>
                      </a:lnTo>
                      <a:cubicBezTo>
                        <a:pt x="50361" y="175697"/>
                        <a:pt x="50361" y="179903"/>
                        <a:pt x="52147" y="183477"/>
                      </a:cubicBezTo>
                      <a:lnTo>
                        <a:pt x="64847" y="208877"/>
                      </a:lnTo>
                      <a:cubicBezTo>
                        <a:pt x="67985" y="215145"/>
                        <a:pt x="75607" y="217685"/>
                        <a:pt x="81878" y="214554"/>
                      </a:cubicBezTo>
                      <a:lnTo>
                        <a:pt x="83173" y="213817"/>
                      </a:lnTo>
                      <a:cubicBezTo>
                        <a:pt x="88552" y="210281"/>
                        <a:pt x="90435" y="203280"/>
                        <a:pt x="87555" y="197523"/>
                      </a:cubicBezTo>
                      <a:lnTo>
                        <a:pt x="77700" y="177800"/>
                      </a:lnTo>
                      <a:lnTo>
                        <a:pt x="87555" y="158077"/>
                      </a:lnTo>
                      <a:cubicBezTo>
                        <a:pt x="90687" y="151806"/>
                        <a:pt x="88146" y="144184"/>
                        <a:pt x="81878" y="141046"/>
                      </a:cubicBezTo>
                      <a:moveTo>
                        <a:pt x="138355" y="146723"/>
                      </a:moveTo>
                      <a:cubicBezTo>
                        <a:pt x="135217" y="140455"/>
                        <a:pt x="127595" y="137915"/>
                        <a:pt x="121324" y="141046"/>
                      </a:cubicBezTo>
                      <a:lnTo>
                        <a:pt x="120029" y="141783"/>
                      </a:lnTo>
                      <a:cubicBezTo>
                        <a:pt x="114650" y="145319"/>
                        <a:pt x="112767" y="152320"/>
                        <a:pt x="115647" y="158077"/>
                      </a:cubicBezTo>
                      <a:lnTo>
                        <a:pt x="125477" y="177800"/>
                      </a:lnTo>
                      <a:lnTo>
                        <a:pt x="115635" y="197523"/>
                      </a:lnTo>
                      <a:cubicBezTo>
                        <a:pt x="112757" y="203752"/>
                        <a:pt x="115347" y="211140"/>
                        <a:pt x="121484" y="214208"/>
                      </a:cubicBezTo>
                      <a:cubicBezTo>
                        <a:pt x="127621" y="217277"/>
                        <a:pt x="135086" y="214916"/>
                        <a:pt x="138342" y="208877"/>
                      </a:cubicBezTo>
                      <a:lnTo>
                        <a:pt x="151042" y="183477"/>
                      </a:lnTo>
                      <a:cubicBezTo>
                        <a:pt x="152828" y="179903"/>
                        <a:pt x="152828" y="175697"/>
                        <a:pt x="151042" y="172123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1200137" y="2190737"/>
                  <a:ext cx="50813" cy="50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13" h="50813">
                      <a:moveTo>
                        <a:pt x="50813" y="50813"/>
                      </a:moveTo>
                      <a:lnTo>
                        <a:pt x="13" y="50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506855" y="2173923"/>
                <a:ext cx="2438400" cy="245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sz="160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需求描述笼统，</a:t>
                </a:r>
                <a:r>
                  <a:rPr lang="en-US" altLang="zh-CN" sz="160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容易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改编</a:t>
                </a:r>
                <a:endParaRPr lang="zh-CN" altLang="en-US" sz="1600" b="1" dirty="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9334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981075" y="318833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11568" y="3133249"/>
                <a:ext cx="21336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把需求拆成「可验收」的小任务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381500" y="1809750"/>
              <a:ext cx="3429000" cy="2095500"/>
              <a:chOff x="4381500" y="1809750"/>
              <a:chExt cx="3429000" cy="2095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43815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3815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3815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529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4654550" y="219075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3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67640" y="117932"/>
                    </a:moveTo>
                    <a:cubicBezTo>
                      <a:pt x="162632" y="113023"/>
                      <a:pt x="154592" y="113103"/>
                      <a:pt x="149682" y="118110"/>
                    </a:cubicBezTo>
                    <a:cubicBezTo>
                      <a:pt x="143710" y="124207"/>
                      <a:pt x="135535" y="127643"/>
                      <a:pt x="127000" y="127643"/>
                    </a:cubicBezTo>
                    <a:cubicBezTo>
                      <a:pt x="118465" y="127643"/>
                      <a:pt x="110290" y="124207"/>
                      <a:pt x="104318" y="118110"/>
                    </a:cubicBezTo>
                    <a:cubicBezTo>
                      <a:pt x="99387" y="113222"/>
                      <a:pt x="91444" y="113200"/>
                      <a:pt x="86486" y="118061"/>
                    </a:cubicBezTo>
                    <a:cubicBezTo>
                      <a:pt x="81528" y="122922"/>
                      <a:pt x="81393" y="130863"/>
                      <a:pt x="86182" y="135890"/>
                    </a:cubicBezTo>
                    <a:cubicBezTo>
                      <a:pt x="96931" y="146859"/>
                      <a:pt x="111642" y="153040"/>
                      <a:pt x="127000" y="153040"/>
                    </a:cubicBezTo>
                    <a:cubicBezTo>
                      <a:pt x="142358" y="153040"/>
                      <a:pt x="157069" y="146859"/>
                      <a:pt x="167818" y="135890"/>
                    </a:cubicBezTo>
                    <a:cubicBezTo>
                      <a:pt x="172727" y="130882"/>
                      <a:pt x="172647" y="122842"/>
                      <a:pt x="167640" y="117932"/>
                    </a:cubicBezTo>
                    <a:moveTo>
                      <a:pt x="95377" y="63500"/>
                    </a:moveTo>
                    <a:lnTo>
                      <a:pt x="95250" y="63500"/>
                    </a:lnTo>
                    <a:cubicBezTo>
                      <a:pt x="88236" y="63500"/>
                      <a:pt x="82550" y="69186"/>
                      <a:pt x="82550" y="76200"/>
                    </a:cubicBezTo>
                    <a:cubicBezTo>
                      <a:pt x="82550" y="83214"/>
                      <a:pt x="88236" y="88900"/>
                      <a:pt x="95250" y="88900"/>
                    </a:cubicBezTo>
                    <a:lnTo>
                      <a:pt x="95377" y="88900"/>
                    </a:lnTo>
                    <a:cubicBezTo>
                      <a:pt x="102391" y="88900"/>
                      <a:pt x="108077" y="83214"/>
                      <a:pt x="108077" y="76200"/>
                    </a:cubicBezTo>
                    <a:cubicBezTo>
                      <a:pt x="108077" y="69186"/>
                      <a:pt x="102391" y="63500"/>
                      <a:pt x="95377" y="63500"/>
                    </a:cubicBezTo>
                    <a:moveTo>
                      <a:pt x="158877" y="63500"/>
                    </a:moveTo>
                    <a:lnTo>
                      <a:pt x="158750" y="63500"/>
                    </a:lnTo>
                    <a:cubicBezTo>
                      <a:pt x="151736" y="63500"/>
                      <a:pt x="146050" y="69186"/>
                      <a:pt x="146050" y="76200"/>
                    </a:cubicBezTo>
                    <a:cubicBezTo>
                      <a:pt x="146050" y="83214"/>
                      <a:pt x="151736" y="88900"/>
                      <a:pt x="158750" y="88900"/>
                    </a:cubicBezTo>
                    <a:lnTo>
                      <a:pt x="158877" y="88900"/>
                    </a:lnTo>
                    <a:cubicBezTo>
                      <a:pt x="165891" y="88900"/>
                      <a:pt x="171577" y="83214"/>
                      <a:pt x="171577" y="76200"/>
                    </a:cubicBezTo>
                    <a:cubicBezTo>
                      <a:pt x="171577" y="69186"/>
                      <a:pt x="165891" y="63500"/>
                      <a:pt x="158877" y="6350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132070" y="2185988"/>
                <a:ext cx="1828800" cy="245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复杂业务逻辑的实现</a:t>
                </a:r>
                <a:endParaRPr lang="zh-CN" sz="1600" b="1" dirty="0"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45529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4600575" y="2915920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731068" y="2844324"/>
                <a:ext cx="263588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中途上下文变长，AI 可能漏改某个文件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4600575" y="3171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731385" y="3133090"/>
                <a:ext cx="2649855" cy="512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每完成一块就让 AI 更新 README.md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 对照表，或列出「已改文件 + 待验证接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口」，避免文档与代码再次脱节。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001000" y="1809750"/>
              <a:ext cx="3429000" cy="2095500"/>
              <a:chOff x="8001000" y="1809750"/>
              <a:chExt cx="3429000" cy="20955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001000" y="1809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8001000" y="1809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001000" y="1809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172450" y="2076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263934" y="2166129"/>
                <a:ext cx="265208" cy="267013"/>
              </a:xfrm>
              <a:custGeom>
                <a:avLst/>
                <a:gdLst/>
                <a:ahLst/>
                <a:cxnLst/>
                <a:rect l="l" t="t" r="r" b="b"/>
                <a:pathLst>
                  <a:path w="265208" h="267013">
                    <a:moveTo>
                      <a:pt x="162516" y="25536"/>
                    </a:moveTo>
                    <a:cubicBezTo>
                      <a:pt x="187942" y="40213"/>
                      <a:pt x="205776" y="65171"/>
                      <a:pt x="211424" y="93981"/>
                    </a:cubicBezTo>
                    <a:cubicBezTo>
                      <a:pt x="217072" y="122791"/>
                      <a:pt x="209982" y="152636"/>
                      <a:pt x="191980" y="175827"/>
                    </a:cubicBezTo>
                    <a:lnTo>
                      <a:pt x="260395" y="244242"/>
                    </a:lnTo>
                    <a:cubicBezTo>
                      <a:pt x="265208" y="249226"/>
                      <a:pt x="265139" y="257147"/>
                      <a:pt x="260240" y="262045"/>
                    </a:cubicBezTo>
                    <a:cubicBezTo>
                      <a:pt x="255341" y="266944"/>
                      <a:pt x="247420" y="267013"/>
                      <a:pt x="242437" y="262200"/>
                    </a:cubicBezTo>
                    <a:lnTo>
                      <a:pt x="174009" y="193785"/>
                    </a:lnTo>
                    <a:cubicBezTo>
                      <a:pt x="133674" y="225084"/>
                      <a:pt x="76376" y="221588"/>
                      <a:pt x="40144" y="185619"/>
                    </a:cubicBezTo>
                    <a:cubicBezTo>
                      <a:pt x="3912" y="149649"/>
                      <a:pt x="0" y="92379"/>
                      <a:pt x="31004" y="51816"/>
                    </a:cubicBezTo>
                    <a:cubicBezTo>
                      <a:pt x="62009" y="11254"/>
                      <a:pt x="118299" y="0"/>
                      <a:pt x="162516" y="25523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751570" y="2177733"/>
                <a:ext cx="1794510" cy="245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Agent容易过度实现</a:t>
                </a:r>
                <a:endParaRPr lang="zh-CN" sz="1600" b="1" dirty="0"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8172450" y="2743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8220075" y="2924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50885" y="2885440"/>
                <a:ext cx="2607310" cy="553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有效约束写法：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完成高优先级部分，排除：</a:t>
                </a:r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功能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762000" y="4095750"/>
              <a:ext cx="3429000" cy="2095500"/>
              <a:chOff x="762000" y="4095750"/>
              <a:chExt cx="3429000" cy="20955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7620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7620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7620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9334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0" name="Group 80"/>
              <p:cNvGrpSpPr/>
              <p:nvPr/>
            </p:nvGrpSpPr>
            <p:grpSpPr>
              <a:xfrm>
                <a:off x="1047749" y="4464050"/>
                <a:ext cx="228601" cy="254000"/>
                <a:chOff x="1047749" y="4464050"/>
                <a:chExt cx="228601" cy="254000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1047750" y="463843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3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78" name="Freeform 78"/>
                <p:cNvSpPr/>
                <p:nvPr/>
              </p:nvSpPr>
              <p:spPr>
                <a:xfrm>
                  <a:off x="1047750" y="456223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1047749" y="446405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  <p:txBody>
                <a:bodyPr/>
                <a:p/>
              </p:txBody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1532255" y="4464368"/>
                <a:ext cx="2137410" cy="245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 AI 当「结对程序员」</a:t>
                </a:r>
                <a:endParaRPr lang="zh-CN" sz="1600" b="1" dirty="0"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Line 83"/>
              <p:cNvSpPr/>
              <p:nvPr/>
            </p:nvSpPr>
            <p:spPr>
              <a:xfrm>
                <a:off x="9334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9810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119581" y="5155089"/>
                <a:ext cx="148005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项目从MVP到具备完整功能是迭代完成的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119343" y="5483384"/>
                <a:ext cx="729388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小步提交，小步验证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4381500" y="4095750"/>
              <a:ext cx="3429000" cy="2095500"/>
              <a:chOff x="4381500" y="4095750"/>
              <a:chExt cx="3429000" cy="20955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3815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94" name="Rectangle 94"/>
              <p:cNvSpPr/>
              <p:nvPr/>
            </p:nvSpPr>
            <p:spPr>
              <a:xfrm>
                <a:off x="43815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43815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45529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97" name="Freeform 97"/>
              <p:cNvSpPr/>
              <p:nvPr/>
            </p:nvSpPr>
            <p:spPr>
              <a:xfrm>
                <a:off x="4645736" y="4455236"/>
                <a:ext cx="271628" cy="271628"/>
              </a:xfrm>
              <a:custGeom>
                <a:avLst/>
                <a:gdLst/>
                <a:ahLst/>
                <a:cxnLst/>
                <a:rect l="l" t="t" r="r" b="b"/>
                <a:pathLst>
                  <a:path w="271628" h="271628">
                    <a:moveTo>
                      <a:pt x="169431" y="35242"/>
                    </a:moveTo>
                    <a:cubicBezTo>
                      <a:pt x="170122" y="38095"/>
                      <a:pt x="172133" y="40446"/>
                      <a:pt x="174844" y="41570"/>
                    </a:cubicBezTo>
                    <a:cubicBezTo>
                      <a:pt x="177555" y="42695"/>
                      <a:pt x="180640" y="42458"/>
                      <a:pt x="183147" y="40932"/>
                    </a:cubicBezTo>
                    <a:cubicBezTo>
                      <a:pt x="214122" y="22073"/>
                      <a:pt x="249568" y="57506"/>
                      <a:pt x="230708" y="88481"/>
                    </a:cubicBezTo>
                    <a:cubicBezTo>
                      <a:pt x="229182" y="90986"/>
                      <a:pt x="228944" y="94069"/>
                      <a:pt x="230066" y="96780"/>
                    </a:cubicBezTo>
                    <a:cubicBezTo>
                      <a:pt x="231187" y="99490"/>
                      <a:pt x="233535" y="101503"/>
                      <a:pt x="236385" y="102197"/>
                    </a:cubicBezTo>
                    <a:cubicBezTo>
                      <a:pt x="271628" y="110744"/>
                      <a:pt x="271628" y="160871"/>
                      <a:pt x="236385" y="169431"/>
                    </a:cubicBezTo>
                    <a:cubicBezTo>
                      <a:pt x="233533" y="170122"/>
                      <a:pt x="231182" y="172133"/>
                      <a:pt x="230057" y="174844"/>
                    </a:cubicBezTo>
                    <a:cubicBezTo>
                      <a:pt x="228933" y="177555"/>
                      <a:pt x="229170" y="180640"/>
                      <a:pt x="230696" y="183147"/>
                    </a:cubicBezTo>
                    <a:cubicBezTo>
                      <a:pt x="249555" y="214122"/>
                      <a:pt x="214122" y="249568"/>
                      <a:pt x="183147" y="230708"/>
                    </a:cubicBezTo>
                    <a:cubicBezTo>
                      <a:pt x="180641" y="229182"/>
                      <a:pt x="177558" y="228944"/>
                      <a:pt x="174848" y="230066"/>
                    </a:cubicBezTo>
                    <a:cubicBezTo>
                      <a:pt x="172137" y="231187"/>
                      <a:pt x="170125" y="233535"/>
                      <a:pt x="169431" y="236385"/>
                    </a:cubicBezTo>
                    <a:cubicBezTo>
                      <a:pt x="160884" y="271628"/>
                      <a:pt x="110757" y="271628"/>
                      <a:pt x="102197" y="236385"/>
                    </a:cubicBezTo>
                    <a:cubicBezTo>
                      <a:pt x="101506" y="233533"/>
                      <a:pt x="99495" y="231182"/>
                      <a:pt x="96784" y="230057"/>
                    </a:cubicBezTo>
                    <a:cubicBezTo>
                      <a:pt x="94073" y="228933"/>
                      <a:pt x="90988" y="229170"/>
                      <a:pt x="88481" y="230696"/>
                    </a:cubicBezTo>
                    <a:cubicBezTo>
                      <a:pt x="57506" y="249555"/>
                      <a:pt x="22060" y="214122"/>
                      <a:pt x="40919" y="183147"/>
                    </a:cubicBezTo>
                    <a:cubicBezTo>
                      <a:pt x="42445" y="180641"/>
                      <a:pt x="42684" y="177558"/>
                      <a:pt x="41562" y="174848"/>
                    </a:cubicBezTo>
                    <a:cubicBezTo>
                      <a:pt x="40440" y="172137"/>
                      <a:pt x="38093" y="170125"/>
                      <a:pt x="35242" y="169431"/>
                    </a:cubicBezTo>
                    <a:cubicBezTo>
                      <a:pt x="0" y="160884"/>
                      <a:pt x="0" y="110757"/>
                      <a:pt x="35242" y="102197"/>
                    </a:cubicBezTo>
                    <a:cubicBezTo>
                      <a:pt x="38095" y="101506"/>
                      <a:pt x="40446" y="99495"/>
                      <a:pt x="41570" y="96784"/>
                    </a:cubicBezTo>
                    <a:cubicBezTo>
                      <a:pt x="42695" y="94073"/>
                      <a:pt x="42458" y="90988"/>
                      <a:pt x="40932" y="88481"/>
                    </a:cubicBezTo>
                    <a:cubicBezTo>
                      <a:pt x="22073" y="57506"/>
                      <a:pt x="57506" y="22060"/>
                      <a:pt x="88481" y="40919"/>
                    </a:cubicBezTo>
                    <a:cubicBezTo>
                      <a:pt x="90984" y="42457"/>
                      <a:pt x="94072" y="42702"/>
                      <a:pt x="96786" y="41578"/>
                    </a:cubicBezTo>
                    <a:cubicBezTo>
                      <a:pt x="99501" y="40455"/>
                      <a:pt x="101512" y="38099"/>
                      <a:pt x="102197" y="35242"/>
                    </a:cubicBezTo>
                    <a:cubicBezTo>
                      <a:pt x="110744" y="0"/>
                      <a:pt x="160871" y="0"/>
                      <a:pt x="169431" y="35242"/>
                    </a:cubicBezTo>
                    <a:close/>
                    <a:moveTo>
                      <a:pt x="135814" y="97714"/>
                    </a:moveTo>
                    <a:cubicBezTo>
                      <a:pt x="114772" y="97714"/>
                      <a:pt x="97714" y="114772"/>
                      <a:pt x="97714" y="135814"/>
                    </a:cubicBezTo>
                    <a:cubicBezTo>
                      <a:pt x="97714" y="156856"/>
                      <a:pt x="114772" y="173914"/>
                      <a:pt x="135814" y="173914"/>
                    </a:cubicBezTo>
                    <a:cubicBezTo>
                      <a:pt x="156856" y="173914"/>
                      <a:pt x="173914" y="156856"/>
                      <a:pt x="173914" y="135814"/>
                    </a:cubicBezTo>
                    <a:cubicBezTo>
                      <a:pt x="173914" y="114772"/>
                      <a:pt x="156856" y="97714"/>
                      <a:pt x="135814" y="97714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5074920" y="4362133"/>
                <a:ext cx="2032000" cy="492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先定义「策略优先级」</a:t>
                </a:r>
                <a:endParaRPr lang="zh-CN" sz="1600" b="1" dirty="0"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  <a:p>
                <a:pPr algn="l"/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再写分支逻辑</a:t>
                </a:r>
                <a:endParaRPr lang="zh-CN" sz="1600" b="1" dirty="0"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0" name="Line 100"/>
              <p:cNvSpPr/>
              <p:nvPr/>
            </p:nvSpPr>
            <p:spPr>
              <a:xfrm>
                <a:off x="45529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46005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4731068" y="5171599"/>
                <a:ext cx="2405548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部分业务规则适合先定规则、AI写实现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4600575" y="551116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4732430" y="5449729"/>
                <a:ext cx="2379329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而不是让</a:t>
                </a:r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AI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自己设计策略体系，否则容易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出现逻辑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冲突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8001000" y="4095750"/>
              <a:ext cx="3429000" cy="2095500"/>
              <a:chOff x="8001000" y="4095750"/>
              <a:chExt cx="3429000" cy="209550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8001000" y="4095750"/>
                <a:ext cx="3429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FFFFFF"/>
              </a:solidFill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8001000" y="4095750"/>
                <a:ext cx="3429000" cy="47625"/>
              </a:xfrm>
              <a:prstGeom prst="roundRect">
                <a:avLst>
                  <a:gd name="adj" fmla="val 40000"/>
                </a:avLst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2" name="Rectangle 112"/>
              <p:cNvSpPr/>
              <p:nvPr/>
            </p:nvSpPr>
            <p:spPr>
              <a:xfrm>
                <a:off x="8001000" y="4095750"/>
                <a:ext cx="571500" cy="47625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8172450" y="4362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4" name="Freeform 114"/>
              <p:cNvSpPr/>
              <p:nvPr/>
            </p:nvSpPr>
            <p:spPr>
              <a:xfrm>
                <a:off x="8274050" y="4473384"/>
                <a:ext cx="254000" cy="231997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31997">
                    <a:moveTo>
                      <a:pt x="168427" y="17170"/>
                    </a:moveTo>
                    <a:cubicBezTo>
                      <a:pt x="180797" y="26924"/>
                      <a:pt x="188316" y="40640"/>
                      <a:pt x="189738" y="55232"/>
                    </a:cubicBezTo>
                    <a:lnTo>
                      <a:pt x="189827" y="56591"/>
                    </a:lnTo>
                    <a:lnTo>
                      <a:pt x="192113" y="56909"/>
                    </a:lnTo>
                    <a:cubicBezTo>
                      <a:pt x="212235" y="60173"/>
                      <a:pt x="227380" y="76992"/>
                      <a:pt x="228524" y="97346"/>
                    </a:cubicBezTo>
                    <a:lnTo>
                      <a:pt x="228600" y="99733"/>
                    </a:lnTo>
                    <a:cubicBezTo>
                      <a:pt x="228544" y="123706"/>
                      <a:pt x="209076" y="143101"/>
                      <a:pt x="185103" y="143066"/>
                    </a:cubicBezTo>
                    <a:lnTo>
                      <a:pt x="139700" y="143066"/>
                    </a:lnTo>
                    <a:lnTo>
                      <a:pt x="139713" y="157937"/>
                    </a:lnTo>
                    <a:cubicBezTo>
                      <a:pt x="150567" y="161773"/>
                      <a:pt x="159105" y="170311"/>
                      <a:pt x="162941" y="181166"/>
                    </a:cubicBezTo>
                    <a:lnTo>
                      <a:pt x="241300" y="181166"/>
                    </a:lnTo>
                    <a:cubicBezTo>
                      <a:pt x="248314" y="181166"/>
                      <a:pt x="254000" y="186851"/>
                      <a:pt x="254000" y="193866"/>
                    </a:cubicBezTo>
                    <a:cubicBezTo>
                      <a:pt x="254000" y="200880"/>
                      <a:pt x="248314" y="206566"/>
                      <a:pt x="241300" y="206566"/>
                    </a:cubicBezTo>
                    <a:lnTo>
                      <a:pt x="162941" y="206566"/>
                    </a:lnTo>
                    <a:cubicBezTo>
                      <a:pt x="157564" y="221805"/>
                      <a:pt x="143160" y="231997"/>
                      <a:pt x="127000" y="231997"/>
                    </a:cubicBezTo>
                    <a:cubicBezTo>
                      <a:pt x="110840" y="231997"/>
                      <a:pt x="96436" y="221805"/>
                      <a:pt x="91059" y="206566"/>
                    </a:cubicBezTo>
                    <a:lnTo>
                      <a:pt x="12700" y="206566"/>
                    </a:lnTo>
                    <a:cubicBezTo>
                      <a:pt x="5686" y="206566"/>
                      <a:pt x="0" y="200880"/>
                      <a:pt x="0" y="193866"/>
                    </a:cubicBezTo>
                    <a:cubicBezTo>
                      <a:pt x="0" y="186851"/>
                      <a:pt x="5686" y="181166"/>
                      <a:pt x="12700" y="181166"/>
                    </a:cubicBezTo>
                    <a:lnTo>
                      <a:pt x="91072" y="181166"/>
                    </a:lnTo>
                    <a:cubicBezTo>
                      <a:pt x="94904" y="170306"/>
                      <a:pt x="103443" y="161763"/>
                      <a:pt x="114300" y="157925"/>
                    </a:cubicBezTo>
                    <a:lnTo>
                      <a:pt x="114300" y="143066"/>
                    </a:lnTo>
                    <a:lnTo>
                      <a:pt x="79502" y="143066"/>
                    </a:lnTo>
                    <a:cubicBezTo>
                      <a:pt x="49771" y="143066"/>
                      <a:pt x="25400" y="119875"/>
                      <a:pt x="25400" y="90957"/>
                    </a:cubicBezTo>
                    <a:cubicBezTo>
                      <a:pt x="25400" y="65545"/>
                      <a:pt x="44209" y="44539"/>
                      <a:pt x="68961" y="39827"/>
                    </a:cubicBezTo>
                    <a:lnTo>
                      <a:pt x="70053" y="39637"/>
                    </a:lnTo>
                    <a:lnTo>
                      <a:pt x="70676" y="38214"/>
                    </a:lnTo>
                    <a:cubicBezTo>
                      <a:pt x="77203" y="23940"/>
                      <a:pt x="89827" y="12687"/>
                      <a:pt x="105677" y="7137"/>
                    </a:cubicBezTo>
                    <a:lnTo>
                      <a:pt x="108496" y="6223"/>
                    </a:lnTo>
                    <a:cubicBezTo>
                      <a:pt x="129159" y="0"/>
                      <a:pt x="151930" y="4115"/>
                      <a:pt x="168440" y="1717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8762365" y="4451033"/>
                <a:ext cx="1219200" cy="245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sz="1600" b="1" dirty="0"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守住产品细节</a:t>
                </a:r>
                <a:endParaRPr lang="zh-CN"/>
              </a:p>
            </p:txBody>
          </p:sp>
          <p:sp>
            <p:nvSpPr>
              <p:cNvPr id="117" name="Line 117"/>
              <p:cNvSpPr/>
              <p:nvPr/>
            </p:nvSpPr>
            <p:spPr>
              <a:xfrm>
                <a:off x="8172450" y="5029200"/>
                <a:ext cx="3086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86100" h="9525">
                    <a:moveTo>
                      <a:pt x="0" y="0"/>
                    </a:moveTo>
                    <a:lnTo>
                      <a:pt x="3086100" y="0"/>
                    </a:lnTo>
                  </a:path>
                </a:pathLst>
              </a:custGeom>
              <a:noFill/>
              <a:ln w="9525">
                <a:solidFill>
                  <a:srgbClr val="E2E6ED"/>
                </a:solidFill>
              </a:ln>
            </p:spPr>
            <p:txBody>
              <a:bodyPr/>
              <a:p/>
            </p:txBody>
          </p:sp>
          <p:sp>
            <p:nvSpPr>
              <p:cNvPr id="118" name="Ellipse 118"/>
              <p:cNvSpPr/>
              <p:nvPr/>
            </p:nvSpPr>
            <p:spPr>
              <a:xfrm>
                <a:off x="8220075" y="521017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8350568" y="5171599"/>
                <a:ext cx="141668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AI 擅长「样板代码」</a:t>
                </a:r>
                <a:endParaRPr lang="zh-CN" altLang="en-US"/>
              </a:p>
            </p:txBody>
          </p:sp>
          <p:sp>
            <p:nvSpPr>
              <p:cNvPr id="120" name="Ellipse 120"/>
              <p:cNvSpPr/>
              <p:nvPr/>
            </p:nvSpPr>
            <p:spPr>
              <a:xfrm>
                <a:off x="8220075" y="5457825"/>
                <a:ext cx="57150" cy="571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8350568" y="5419249"/>
                <a:ext cx="30480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属于产品体验的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地方，用自然语言反复澄清，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l"/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比让 AI 自由发挥更靠谱。</a:t>
                </a:r>
                <a:endParaRPr lang="zh-CN" altLang="en-US"/>
              </a:p>
            </p:txBody>
          </p:sp>
        </p:grpSp>
      </p:grpSp>
      <p:sp>
        <p:nvSpPr>
          <p:cNvPr id="13" name="Ellipse 64"/>
          <p:cNvSpPr/>
          <p:nvPr/>
        </p:nvSpPr>
        <p:spPr>
          <a:xfrm>
            <a:off x="8223250" y="331533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/>
          <a:p/>
        </p:txBody>
      </p:sp>
      <p:sp>
        <p:nvSpPr>
          <p:cNvPr id="14" name="Ellipse 84"/>
          <p:cNvSpPr/>
          <p:nvPr/>
        </p:nvSpPr>
        <p:spPr>
          <a:xfrm>
            <a:off x="978535" y="5542915"/>
            <a:ext cx="57150" cy="5715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2560320"/>
            <a:ext cx="12191999" cy="1828800"/>
          </a:xfrm>
          <a:prstGeom prst="rect">
            <a:avLst/>
          </a:prstGeom>
          <a:solidFill>
            <a:srgbClr val="0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8" y="2560320"/>
            <a:ext cx="137160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838" y="2926080"/>
            <a:ext cx="109728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PART 0</a:t>
            </a:r>
            <a:r>
              <a:rPr lang="en-US"/>
              <a:t>5</a:t>
            </a:r>
            <a:r>
              <a:t> · </a:t>
            </a:r>
            <a:r>
              <a:rPr lang="zh-CN" altLang="en-US"/>
              <a:t>项目演示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4"/>
          <p:cNvGrpSpPr/>
          <p:nvPr/>
        </p:nvGrpSpPr>
        <p:grpSpPr>
          <a:xfrm>
            <a:off x="762000" y="495300"/>
            <a:ext cx="772160" cy="381000"/>
            <a:chOff x="762000" y="495300"/>
            <a:chExt cx="772160" cy="3810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61214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首页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29030"/>
            <a:ext cx="10601960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4"/>
          <p:cNvGrpSpPr/>
          <p:nvPr/>
        </p:nvGrpSpPr>
        <p:grpSpPr>
          <a:xfrm>
            <a:off x="762000" y="495300"/>
            <a:ext cx="1996440" cy="381000"/>
            <a:chOff x="762000" y="495300"/>
            <a:chExt cx="1996440" cy="3810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183642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模拟面试</a:t>
              </a:r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页面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245870"/>
            <a:ext cx="10917555" cy="54222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51890"/>
            <a:ext cx="10658475" cy="5299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4"/>
          <p:cNvGrpSpPr/>
          <p:nvPr/>
        </p:nvGrpSpPr>
        <p:grpSpPr>
          <a:xfrm>
            <a:off x="762000" y="495300"/>
            <a:ext cx="1996440" cy="381000"/>
            <a:chOff x="762000" y="495300"/>
            <a:chExt cx="1996440" cy="3810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183642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模拟面试页面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53795"/>
            <a:ext cx="10948035" cy="54146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86485"/>
            <a:ext cx="1071753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4"/>
          <p:cNvGrpSpPr/>
          <p:nvPr/>
        </p:nvGrpSpPr>
        <p:grpSpPr>
          <a:xfrm>
            <a:off x="762000" y="495300"/>
            <a:ext cx="1996440" cy="381000"/>
            <a:chOff x="762000" y="495300"/>
            <a:chExt cx="1996440" cy="3810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183642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简历</a:t>
              </a:r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管理页面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77290"/>
            <a:ext cx="10689590" cy="5255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Group 14"/>
          <p:cNvGrpSpPr/>
          <p:nvPr/>
        </p:nvGrpSpPr>
        <p:grpSpPr>
          <a:xfrm>
            <a:off x="762000" y="495300"/>
            <a:ext cx="1996440" cy="381000"/>
            <a:chOff x="762000" y="495300"/>
            <a:chExt cx="1996440" cy="381000"/>
          </a:xfrm>
        </p:grpSpPr>
        <p:sp>
          <p:nvSpPr>
            <p:cNvPr id="6" name="Rectangle 6"/>
            <p:cNvSpPr/>
            <p:nvPr/>
          </p:nvSpPr>
          <p:spPr>
            <a:xfrm>
              <a:off x="762000" y="4953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2020" y="502920"/>
              <a:ext cx="183642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4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题库管理页面</a:t>
              </a:r>
              <a:endParaRPr lang="zh-CN" sz="24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22680"/>
            <a:ext cx="10800715" cy="53917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-571500"/>
            <a:ext cx="12573000" cy="7429500"/>
            <a:chOff x="0" y="-571500"/>
            <a:chExt cx="12573000" cy="74295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E52">
                <a:alpha val="2000"/>
              </a:srgb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2E6ED">
                  <a:alpha val="6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2E6ED">
                  <a:alpha val="6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0" y="-571500"/>
              <a:ext cx="3429000" cy="3429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0" y="4572000"/>
              <a:ext cx="2286000" cy="2286000"/>
            </a:xfrm>
            <a:prstGeom prst="ellipse">
              <a:avLst/>
            </a:prstGeom>
            <a:solidFill>
              <a:srgbClr val="FFB300">
                <a:alpha val="7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" y="5334000"/>
              <a:ext cx="1524000" cy="152400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F2E5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0" y="95250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0" y="1009650"/>
              <a:ext cx="12192000" cy="19050"/>
            </a:xfrm>
            <a:prstGeom prst="rect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90550" y="304800"/>
              <a:ext cx="342900" cy="3429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66750" y="381000"/>
              <a:ext cx="190500" cy="190500"/>
            </a:xfrm>
            <a:prstGeom prst="ellipse">
              <a:avLst/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8700" y="371475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AI · Simulation Interview</a:t>
              </a:r>
              <a:endParaRPr lang="zh-CN" sz="1500" b="1" dirty="0">
                <a:solidFill>
                  <a:srgbClr val="FFFFFF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8230" y="2536190"/>
            <a:ext cx="9110980" cy="1554480"/>
            <a:chOff x="1078230" y="2100580"/>
            <a:chExt cx="9110980" cy="1554480"/>
          </a:xfrm>
        </p:grpSpPr>
        <p:sp>
          <p:nvSpPr>
            <p:cNvPr id="18" name="TextBox 18"/>
            <p:cNvSpPr txBox="1"/>
            <p:nvPr/>
          </p:nvSpPr>
          <p:spPr>
            <a:xfrm>
              <a:off x="1078230" y="2100580"/>
              <a:ext cx="9110980" cy="923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6000" b="1" dirty="0">
                  <a:solidFill>
                    <a:srgbClr val="1E1E1E"/>
                  </a:solidFill>
                  <a:latin typeface="Georgia" panose="02040502050405020303"/>
                  <a:ea typeface="楷体" panose="02010609060101010101" charset="-122"/>
                  <a:cs typeface="Georgia" panose="02040502050405020303"/>
                </a:rPr>
                <a:t>Thank you for listening</a:t>
              </a:r>
              <a:endParaRPr lang="en-US" altLang="zh-CN" sz="6000" b="1" dirty="0">
                <a:solidFill>
                  <a:srgbClr val="1E1E1E"/>
                </a:solidFill>
                <a:latin typeface="Georgia" panose="02040502050405020303"/>
                <a:ea typeface="楷体" panose="02010609060101010101" charset="-122"/>
                <a:cs typeface="Georgia" panose="02040502050405020303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3124200"/>
              <a:ext cx="1524000" cy="5715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760" y="3470910"/>
              <a:ext cx="26111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FastAPI + Vue 3 + pgvector · </a:t>
              </a:r>
              <a:r>
                <a:rPr lang="zh-CN" sz="120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课程项目</a:t>
              </a:r>
              <a:endParaRPr lang="zh-CN" sz="120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3000" y="5227320"/>
            <a:ext cx="9306560" cy="571500"/>
            <a:chOff x="1143000" y="5600700"/>
            <a:chExt cx="9306560" cy="571500"/>
          </a:xfrm>
        </p:grpSpPr>
        <p:sp>
          <p:nvSpPr>
            <p:cNvPr id="43" name="Rectangle 43"/>
            <p:cNvSpPr/>
            <p:nvPr/>
          </p:nvSpPr>
          <p:spPr>
            <a:xfrm>
              <a:off x="11430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001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01115" y="5925502"/>
              <a:ext cx="10668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专业方向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综合项目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671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团队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68115" y="5925502"/>
              <a:ext cx="122936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面试平台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课程小组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24662" y="5688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日期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25615" y="5925502"/>
              <a:ext cx="68326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2026-0</a:t>
              </a:r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-1</a:t>
              </a:r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</a:t>
              </a:r>
              <a:endParaRPr lang="en-US" alt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34500" y="56007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FB3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91662" y="5688806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1E1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汇报人</a:t>
              </a:r>
              <a:endParaRPr lang="zh-CN" sz="1125" b="1" dirty="0">
                <a:solidFill>
                  <a:srgbClr val="1E1E1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92615" y="5925502"/>
              <a:ext cx="95694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2353117 </a:t>
              </a:r>
              <a:r>
                <a:rPr lang="zh-CN" sz="1050" dirty="0">
                  <a:solidFill>
                    <a:srgbClr val="5F6B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黄彦炜</a:t>
              </a:r>
              <a:endParaRPr lang="zh-CN" sz="1050" dirty="0">
                <a:solidFill>
                  <a:srgbClr val="5F6B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3060</Words>
  <Application>WPS 演示</Application>
  <PresentationFormat>On-screen Show (4:3)</PresentationFormat>
  <Paragraphs>533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Arial</vt:lpstr>
      <vt:lpstr>Georgia</vt:lpstr>
      <vt:lpstr>楷体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黄彦炜</cp:lastModifiedBy>
  <cp:revision>24</cp:revision>
  <dcterms:created xsi:type="dcterms:W3CDTF">2013-01-27T09:14:00Z</dcterms:created>
  <dcterms:modified xsi:type="dcterms:W3CDTF">2026-06-18T05:47:26Z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7D83805A20CD47F2A6EFF038B490BDA8_12</vt:lpwstr>
  </property>
  <property fmtid="{D5CDD505-2E9C-101B-9397-08002B2CF9AE}" pid="3" name="KSOProductBuildVer">
    <vt:lpwstr>2052-12.1.0.21915</vt:lpwstr>
  </property>
</Properties>
</file>